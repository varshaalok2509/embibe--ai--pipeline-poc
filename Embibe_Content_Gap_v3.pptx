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Embibe Content</a:t>
            </a:r>
            <a:endParaRPr lang="en-US" sz="42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Gap Analysis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834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 &amp; Proposed Next Steps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389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Internal Leadership Review  |  Confidential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Market: India K-12 at a Glance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144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14400"/>
            <a:ext cx="256032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248M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enrolled in K-12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(UDISE+ 2023-24)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37560" y="9144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337560" y="914400"/>
            <a:ext cx="2560320" cy="45720"/>
          </a:xfrm>
          <a:prstGeom prst="rect">
            <a:avLst/>
          </a:prstGeom>
          <a:solidFill>
            <a:srgbClr val="38864F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388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$92B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2044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K-12 market size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(2024, IMARC)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914400"/>
            <a:ext cx="2560320" cy="1051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126480" y="914400"/>
            <a:ext cx="2560320" cy="4572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14" name="Text 12"/>
          <p:cNvSpPr/>
          <p:nvPr/>
        </p:nvSpPr>
        <p:spPr>
          <a:xfrm>
            <a:off x="6309360" y="10058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E07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69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309360" y="146304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boards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India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21488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Distribution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2432304"/>
            <a:ext cx="8046720" cy="228600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2432304"/>
            <a:ext cx="7077456" cy="228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9" name="Shape 17"/>
          <p:cNvSpPr/>
          <p:nvPr/>
        </p:nvSpPr>
        <p:spPr>
          <a:xfrm>
            <a:off x="7626096" y="2432304"/>
            <a:ext cx="804672" cy="22860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432304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— 88%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2788920"/>
            <a:ext cx="164592" cy="118872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76148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— 88%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743200" y="2788920"/>
            <a:ext cx="164592" cy="11887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4" name="Text 22"/>
          <p:cNvSpPr/>
          <p:nvPr/>
        </p:nvSpPr>
        <p:spPr>
          <a:xfrm>
            <a:off x="2971800" y="276148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— 10%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572000" y="2788920"/>
            <a:ext cx="164592" cy="118872"/>
          </a:xfrm>
          <a:prstGeom prst="rect">
            <a:avLst/>
          </a:prstGeom>
          <a:solidFill>
            <a:srgbClr val="D6E4F0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761488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ICSE / IB / Other — 2%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48640" y="31546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3520440"/>
            <a:ext cx="54864" cy="41148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35204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dominate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7240" y="370332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88% of students are on state boards — each with its own curriculum and language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48640" y="4023360"/>
            <a:ext cx="54864" cy="41148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40233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is the largest medium of instruction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7240" y="42062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42%+ of students nationally study in Hindi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48640" y="4526280"/>
            <a:ext cx="54864" cy="41148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5" name="Text 33"/>
          <p:cNvSpPr/>
          <p:nvPr/>
        </p:nvSpPr>
        <p:spPr>
          <a:xfrm>
            <a:off x="777240" y="452628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6-12 = highest demand zone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777240" y="470916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exams, competitive prep, and subject specialization happen here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Embibe Sits in This Market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of 248M students, here is what Embibe currently covers — and what it doesn't.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749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74904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COVER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19476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+ select state boards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77240" y="219456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3591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(some coverage)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777240" y="27706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 + 3 Sciences (4 core STEM)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77240" y="301752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1821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77240" y="3429000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77240" y="35935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Textbook-aligned questions, curriculum mapping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74904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280160"/>
            <a:ext cx="3749040" cy="45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20" name="Text 18"/>
          <p:cNvSpPr/>
          <p:nvPr/>
        </p:nvSpPr>
        <p:spPr>
          <a:xfrm>
            <a:off x="5074920" y="1417320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DON'T COVER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074920" y="178308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medium — 42% of all students, 0% content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Regional languages — 14 languages, 0% content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1-5 — near 0% across all boards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— 3M+ students, entirely untouched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 &amp; Cambridge — premium segment, 0%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Non-STEM subjects (Languages, PE, Arts)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4160520"/>
            <a:ext cx="8046720" cy="548640"/>
          </a:xfrm>
          <a:prstGeom prst="rect">
            <a:avLst/>
          </a:prstGeom>
          <a:solidFill>
            <a:srgbClr val="FFF4EB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160520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Today, Embibe covers only core STEM in English for Grades 6-12. </a:t>
            </a:r>
            <a:pPr indent="0" marL="0">
              <a:buNone/>
            </a:pPr>
            <a:r>
              <a:rPr lang="en-US" sz="13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 90% of what students need is not yet available.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Coverage Profile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content exist across boards, subjects, and languages?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234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606040" y="123444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94760" y="12344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Means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160020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160020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Subjects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6002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94760" y="160020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STEM subjects covered (Math, Physics, Chemistry, Biology). All Humanities, Commerce, Languages, Vocational — 0%.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148840"/>
            <a:ext cx="8046720" cy="548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14884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06040" y="2148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only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214884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of existing content is English-medium. Hindi (42% of students), Telugu, Tamil, Bengali, Kannada and 9 other languages — all at 0%.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8640" y="269748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269748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606040" y="26974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6-12 only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794760" y="269748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Grades 9-12 have the best coverage (~8-9%). Grades 1-5 are virtually empty (0.1%). NIOS is completely untouched.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8046720" cy="54864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3246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2606040" y="32461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CBSE-centric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794760" y="324612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CBSE has the most content but is still 87% incomplete. All state boards are below 12% coverage. NIOS, IB, Cambridge — 0%.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48640" y="3794760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" y="379476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types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0604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only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94760" y="37947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content exists, it's mostly textbook questions. Video lessons, learning modules, and publisher content are missing in 81% of cases.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389120"/>
            <a:ext cx="8046720" cy="411480"/>
          </a:xfrm>
          <a:prstGeom prst="rect">
            <a:avLst/>
          </a:prstGeom>
          <a:solidFill>
            <a:srgbClr val="FFF4EB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4389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is clear: </a:t>
            </a:r>
            <a:pPr indent="0" marL="0">
              <a:buNone/>
            </a:pPr>
            <a:r>
              <a:rPr lang="en-US" sz="12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English-medium STEM for Grades 6-12 is the only area with meaningful content. Everything else is open.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medium has zero full coverage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42% of India's students study in Hindi — across CBSE, Delhi Board, and 10+ state boards. Embibe has not a single completed Hindi learning module. This is the single largest gap in the platform.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Board is a free win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Delhi follows the CBSE curriculum. Existing CBSE content can be mapped directly to Delhi Board — closing ~600 gaps without creating anything new.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745 areas are almost ready — they just need videos and lessons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areas already have questions and curriculum mapping. What's missing is the same thing in 81% of cases: video lessons and publisher content. This is a production problem, not a content design problem.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Insights (contd.)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boards are below 5% coverage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77724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Maharashtra, Tamil Nadu, Karnataka, Kerala — all above 90% uncovered. The little content that exists is English-medium STEM. Regional-language content is almost entirely absent across every state board.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3756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356616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is the easiest regional language win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56616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6616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 has more content in progress than content yet to be built — a rare position. Completing Assam would make it the first state board with meaningful vernacular coverage, and a model for other states.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126480" y="960120"/>
            <a:ext cx="25603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355080" y="11430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355080" y="164592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NIOS, IB, Cambridge are completely untouched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55080" y="2331720"/>
            <a:ext cx="1097280" cy="0"/>
          </a:xfrm>
          <a:prstGeom prst="line">
            <a:avLst/>
          </a:prstGeom>
          <a:noFill/>
          <a:ln w="19050">
            <a:solidFill>
              <a:srgbClr val="E0773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2468880"/>
            <a:ext cx="21031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serves 3M+ students (open schooling, dropouts, working children). IB and Cambridge serve the premium international school segment. All three have zero content today and need a separate investment call.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Vernacular Opportunity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is the medium of instruction for 42%+ of India's students — and Embibe has zero Hindi content today.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language. Numbers show how many learning modules need to be built or completed.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8046720" cy="32004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4630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194560" y="146304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Started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383280" y="146304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0" y="1463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&amp; Rationale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178308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17830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2,184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383280" y="17830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0" y="17830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priority. 42% of students. Complete in-progress first, then build new.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48640" y="205740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20574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Assamese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194560" y="20574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83280" y="20574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191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20574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quick win — more in-progress than not-started.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233172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23317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Telugu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194560" y="23317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456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383280" y="23317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0" y="23317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+ Telangana boards. High reach.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48640" y="260604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2194560" y="2606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354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83280" y="26060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572000" y="26060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Tamil Nadu Board demand.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685800" y="28803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Kannada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2194560" y="28803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343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383280" y="28803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572000" y="28803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Karnataka Board demand.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315468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7" name="Text 35"/>
          <p:cNvSpPr/>
          <p:nvPr/>
        </p:nvSpPr>
        <p:spPr>
          <a:xfrm>
            <a:off x="685800" y="315468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Malayalam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2194560" y="315468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333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3383280" y="315468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457200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Kerala Board demand.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48640" y="342900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685800" y="3429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Bengali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2194560" y="34290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323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3383280" y="34290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572000" y="34290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West Bengal Board demand.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548640" y="370332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47" name="Text 45"/>
          <p:cNvSpPr/>
          <p:nvPr/>
        </p:nvSpPr>
        <p:spPr>
          <a:xfrm>
            <a:off x="685800" y="3703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Gujarati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2194560" y="3703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307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3383280" y="370332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0" y="37033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Board demand.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3977640"/>
            <a:ext cx="8046720" cy="27432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685800" y="39776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Marathi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2194560" y="39776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265</a:t>
            </a:r>
            <a:endParaRPr lang="en-US" sz="1000" dirty="0"/>
          </a:p>
        </p:txBody>
      </p:sp>
      <p:sp>
        <p:nvSpPr>
          <p:cNvPr id="54" name="Text 52"/>
          <p:cNvSpPr/>
          <p:nvPr/>
        </p:nvSpPr>
        <p:spPr>
          <a:xfrm>
            <a:off x="3383280" y="3977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0" y="397764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Board demand.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548640" y="4251960"/>
            <a:ext cx="8046720" cy="27432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57" name="Text 55"/>
          <p:cNvSpPr/>
          <p:nvPr/>
        </p:nvSpPr>
        <p:spPr>
          <a:xfrm>
            <a:off x="685800" y="425196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/ Punjabi / Others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2194560" y="425196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750+</a:t>
            </a:r>
            <a:endParaRPr lang="en-US" sz="1000" dirty="0"/>
          </a:p>
        </p:txBody>
      </p:sp>
      <p:sp>
        <p:nvSpPr>
          <p:cNvPr id="59" name="Text 57"/>
          <p:cNvSpPr/>
          <p:nvPr/>
        </p:nvSpPr>
        <p:spPr>
          <a:xfrm>
            <a:off x="3383280" y="425196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60" name="Text 58"/>
          <p:cNvSpPr/>
          <p:nvPr/>
        </p:nvSpPr>
        <p:spPr>
          <a:xfrm>
            <a:off x="4572000" y="42519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Long-term. Full build required.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Closing the Last Mile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745 subject areas already have foundational content (questions, curriculum mapping) but aren't student-ready.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71600"/>
            <a:ext cx="2651760" cy="45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Exists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Textbook-aligned questions and curriculum structure are in place. Subjects are mapped to the right boards, grades, and languages.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371600"/>
            <a:ext cx="2651760" cy="45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11" name="Text 9"/>
          <p:cNvSpPr/>
          <p:nvPr/>
        </p:nvSpPr>
        <p:spPr>
          <a:xfrm>
            <a:off x="361188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5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Blocking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611880" y="19659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81% are missing the same three things: video lessons, structured learning modules, and publisher textbook content.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09360" y="1371600"/>
            <a:ext cx="2651760" cy="2377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309360" y="1371600"/>
            <a:ext cx="2651760" cy="4572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55448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Needed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production for top subject-grade-language areas. Publisher licensing at scale. Gen-AI lessons as a stopgap for lower-priority areas.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4023360"/>
            <a:ext cx="8046720" cy="502920"/>
          </a:xfrm>
          <a:prstGeom prst="rect">
            <a:avLst/>
          </a:prstGeom>
          <a:solidFill>
            <a:srgbClr val="FFF4E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233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curriculum gap — it's a media and licensing gap. </a:t>
            </a:r>
            <a:pPr indent="0" marL="0">
              <a:buNone/>
            </a:pPr>
            <a:r>
              <a:rPr lang="en-US" sz="12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structure exists. The content layer needs to be built on top.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Recommended Next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08813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881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417320" y="103327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CBSE content to Delhi Board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17320" y="130759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~600 gaps closed instantly with zero new content creation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173736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186537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65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417320" y="181051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the 745 near-ready areas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208483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Hindi (253) and Assamese (191) first — only videos and lessons to add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251460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264261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26426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58775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Hindi-medium STEM for Grades 6-12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286207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content set serves CBSE + UP + MP + Rajasthan + Bihar + Jharkhand + Haryana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329184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341985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3419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417320" y="336499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top state boards in regional languages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417320" y="363931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Maharashtra (Marathi), West Bengal (Bengali), Gujarat (Gujarati), South India states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4069080"/>
            <a:ext cx="8046720" cy="65836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4197096"/>
            <a:ext cx="402336" cy="402336"/>
          </a:xfrm>
          <a:prstGeom prst="ellipse">
            <a:avLst/>
          </a:prstGeom>
          <a:solidFill>
            <a:srgbClr val="2C5282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41970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417320" y="4142232"/>
            <a:ext cx="6858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strategic call on NIOS &amp; international boards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417320" y="4416552"/>
            <a:ext cx="6858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= 3M+ students. IB/Cambridge = premium segment. Both need a separate investment decision.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Execution Plan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96012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960120"/>
            <a:ext cx="64008" cy="118872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03327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— Quick Wins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34416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CBSE content to Delhi Board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~600 gaps closed, zero new content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745 near-ready areas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prioritize Hindi (253) and Assamese (191)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Assam Board to full coverage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more content is in progress than not started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286000"/>
            <a:ext cx="64008" cy="118872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5915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2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— Hindi &amp; State Board Expansion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67004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Hindi-medium STEM for Gr 6-12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set serves CBSE + UP + MP + Rajasthan + Bihar + Jharkhand + Haryana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to top state boards in regional languages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Maharashtra (Marathi), West Bengal (Bengali), Gujarat (Gujarati)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804672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611880"/>
            <a:ext cx="64008" cy="1188720"/>
          </a:xfrm>
          <a:prstGeom prst="rect">
            <a:avLst/>
          </a:prstGeom>
          <a:solidFill>
            <a:srgbClr val="3B6BA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685032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6B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— Full Vernacular &amp; New Segments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995928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South India languages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Tamil, Telugu, Kannada, Malayalam for TN, AP, Telangana, Karnataka, Kerala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&amp; international boards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3M+ NIOS students, IB &amp; Cambridge premium segment</a:t>
            </a:r>
            <a:endParaRPr lang="en-US" sz="10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grades (1-5)</a:t>
            </a:r>
            <a:pPr indent="0" marL="0">
              <a:spcAft>
                <a:spcPts val="3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greenfield build, new curriculum mapping across boards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528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Measuring Progress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Completeness Rate (CCR) — the share of student needs with full content available.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2651760" cy="45720"/>
          </a:xfrm>
          <a:prstGeom prst="rect">
            <a:avLst/>
          </a:prstGeom>
          <a:solidFill>
            <a:srgbClr val="C53030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627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530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73152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566 of ~13K areas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have full content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12344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29000" y="1234440"/>
            <a:ext cx="2651760" cy="4572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Phase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11880" y="1627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0773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~15%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361188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wins + partial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completion + Delhi mapping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09360" y="1234440"/>
            <a:ext cx="265176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309360" y="1234440"/>
            <a:ext cx="2651760" cy="45720"/>
          </a:xfrm>
          <a:prstGeom prst="rect">
            <a:avLst/>
          </a:prstGeom>
          <a:solidFill>
            <a:srgbClr val="38864F"/>
          </a:solidFill>
          <a:ln/>
        </p:spPr>
      </p:sp>
      <p:sp>
        <p:nvSpPr>
          <p:cNvPr id="17" name="Text 15"/>
          <p:cNvSpPr/>
          <p:nvPr/>
        </p:nvSpPr>
        <p:spPr>
          <a:xfrm>
            <a:off x="6492240" y="13716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Phase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1627632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3886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~35%</a:t>
            </a:r>
            <a:endParaRPr lang="en-US" sz="3400" dirty="0"/>
          </a:p>
        </p:txBody>
      </p:sp>
      <p:sp>
        <p:nvSpPr>
          <p:cNvPr id="19" name="Text 17"/>
          <p:cNvSpPr/>
          <p:nvPr/>
        </p:nvSpPr>
        <p:spPr>
          <a:xfrm>
            <a:off x="6492240" y="219456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STEM + top state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expansion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48640" y="3246120"/>
            <a:ext cx="804672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246120"/>
            <a:ext cx="64008" cy="1508760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33375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Leadership Review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22960" y="3657600"/>
            <a:ext cx="7498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allocation for Phase 1: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content production team + publisher licensing budget to close the 745 near-ready areas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Hindi content approach: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in-house production vs. publisher licensing vs. Gen-AI — which path to fund first for 2,184 open Hindi modules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NIOS investment timing: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3M+ underserved students, strong social impact case — include in Phase 2 or defer to Phase 3?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Gen-AI as accelerator:</a:t>
            </a:r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pilot Gen-AI-generated lessons for lower-priority language-board combinations to expand coverage faster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07730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920240"/>
            <a:ext cx="73152" cy="13716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20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1F29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26517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077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Embibe Content Strategy Team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|  Internal Leadership Review  |  Confidential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Embibe Content Gap Analysis</dc:title>
  <dc:subject>PptxGenJS Presentation</dc:subject>
  <dc:creator>Embibe Content Strategy</dc:creator>
  <cp:lastModifiedBy>Embibe Content Strategy</cp:lastModifiedBy>
  <cp:revision>1</cp:revision>
  <dcterms:created xsi:type="dcterms:W3CDTF">2026-04-12T10:18:14Z</dcterms:created>
  <dcterms:modified xsi:type="dcterms:W3CDTF">2026-04-12T10:18:14Z</dcterms:modified>
</cp:coreProperties>
</file>