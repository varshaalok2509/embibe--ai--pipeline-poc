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78" r:id="rId3"/>
    <p:sldId id="258" r:id="rId4"/>
    <p:sldId id="282" r:id="rId5"/>
    <p:sldId id="261" r:id="rId6"/>
    <p:sldId id="279" r:id="rId7"/>
    <p:sldId id="290" r:id="rId8"/>
    <p:sldId id="289" r:id="rId9"/>
    <p:sldId id="264" r:id="rId10"/>
    <p:sldId id="265" r:id="rId11"/>
    <p:sldId id="277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052D20F-3C17-2FF7-5A9E-73E46295B711}" v="50" dt="2026-04-13T06:30:10.373"/>
    <p1510:client id="{83126672-7D75-4873-7495-D695AF94D00A}" v="232" dt="2026-04-13T09:57:15.597"/>
    <p1510:client id="{A59F57C5-FE6C-DCA2-0C1F-F889C5F7C456}" v="13" dt="2026-04-13T07:16:56.674"/>
    <p1510:client id="{D83910FB-0639-2A5D-3103-50ED23A0EEB1}" v="59" dt="2026-04-13T07:11:33.45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715620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07730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1371600"/>
            <a:ext cx="73152" cy="2103120"/>
          </a:xfrm>
          <a:prstGeom prst="rect">
            <a:avLst/>
          </a:prstGeom>
          <a:solidFill>
            <a:srgbClr val="2C5282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371600"/>
            <a:ext cx="7315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4200" b="1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Embibe Content</a:t>
            </a:r>
            <a:endParaRPr lang="en-US" sz="4200"/>
          </a:p>
          <a:p>
            <a:pPr marL="0" indent="0">
              <a:lnSpc>
                <a:spcPct val="110000"/>
              </a:lnSpc>
              <a:buNone/>
            </a:pPr>
            <a:r>
              <a:rPr lang="en-US" sz="4200" b="1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Gap Analysis</a:t>
            </a:r>
            <a:endParaRPr lang="en-US" sz="4200"/>
          </a:p>
        </p:txBody>
      </p:sp>
      <p:sp>
        <p:nvSpPr>
          <p:cNvPr id="5" name="Text 3"/>
          <p:cNvSpPr/>
          <p:nvPr/>
        </p:nvSpPr>
        <p:spPr>
          <a:xfrm>
            <a:off x="822960" y="2834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>
                <a:solidFill>
                  <a:srgbClr val="E077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 &amp; Proposed Next Steps</a:t>
            </a:r>
            <a:endParaRPr lang="en-US" sz="1800"/>
          </a:p>
        </p:txBody>
      </p:sp>
      <p:sp>
        <p:nvSpPr>
          <p:cNvPr id="6" name="Text 4"/>
          <p:cNvSpPr/>
          <p:nvPr/>
        </p:nvSpPr>
        <p:spPr>
          <a:xfrm>
            <a:off x="822960" y="43891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2026  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0773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2C52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Market: India K-12 at a Glance</a:t>
            </a:r>
            <a:endParaRPr lang="en-US" sz="2600"/>
          </a:p>
        </p:txBody>
      </p:sp>
      <p:sp>
        <p:nvSpPr>
          <p:cNvPr id="4" name="Shape 2"/>
          <p:cNvSpPr/>
          <p:nvPr/>
        </p:nvSpPr>
        <p:spPr>
          <a:xfrm>
            <a:off x="548640" y="914400"/>
            <a:ext cx="2560320" cy="10515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905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914400"/>
            <a:ext cx="2560320" cy="45720"/>
          </a:xfrm>
          <a:prstGeom prst="rect">
            <a:avLst/>
          </a:prstGeom>
          <a:solidFill>
            <a:srgbClr val="2C5282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0058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2C52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248M</a:t>
            </a:r>
            <a:endParaRPr lang="en-US" sz="2800"/>
          </a:p>
        </p:txBody>
      </p:sp>
      <p:sp>
        <p:nvSpPr>
          <p:cNvPr id="7" name="Text 5"/>
          <p:cNvSpPr/>
          <p:nvPr/>
        </p:nvSpPr>
        <p:spPr>
          <a:xfrm>
            <a:off x="731520" y="146304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enrolled in K-12</a:t>
            </a:r>
            <a:endParaRPr lang="en-US" sz="1000"/>
          </a:p>
          <a:p>
            <a:pPr marL="0" indent="0">
              <a:buNone/>
            </a:pPr>
            <a:r>
              <a:rPr lang="en-US" sz="100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(UDISE+ 2023-24)</a:t>
            </a:r>
            <a:endParaRPr lang="en-US" sz="1000"/>
          </a:p>
        </p:txBody>
      </p:sp>
      <p:sp>
        <p:nvSpPr>
          <p:cNvPr id="8" name="Shape 6"/>
          <p:cNvSpPr/>
          <p:nvPr/>
        </p:nvSpPr>
        <p:spPr>
          <a:xfrm>
            <a:off x="3337560" y="914400"/>
            <a:ext cx="2560320" cy="10515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905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337560" y="914400"/>
            <a:ext cx="2560320" cy="45720"/>
          </a:xfrm>
          <a:prstGeom prst="rect">
            <a:avLst/>
          </a:prstGeom>
          <a:solidFill>
            <a:srgbClr val="38864F"/>
          </a:solidFill>
          <a:ln/>
        </p:spPr>
      </p:sp>
      <p:sp>
        <p:nvSpPr>
          <p:cNvPr id="10" name="Text 8"/>
          <p:cNvSpPr/>
          <p:nvPr/>
        </p:nvSpPr>
        <p:spPr>
          <a:xfrm>
            <a:off x="3520440" y="10058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3886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$92B</a:t>
            </a:r>
            <a:endParaRPr lang="en-US" sz="2800"/>
          </a:p>
        </p:txBody>
      </p:sp>
      <p:sp>
        <p:nvSpPr>
          <p:cNvPr id="11" name="Text 9"/>
          <p:cNvSpPr/>
          <p:nvPr/>
        </p:nvSpPr>
        <p:spPr>
          <a:xfrm>
            <a:off x="3520440" y="146304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K-12 market size</a:t>
            </a:r>
            <a:endParaRPr lang="en-US" sz="1000"/>
          </a:p>
          <a:p>
            <a:pPr marL="0" indent="0">
              <a:buNone/>
            </a:pPr>
            <a:r>
              <a:rPr lang="en-US" sz="100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(2024, IMARC)</a:t>
            </a:r>
            <a:endParaRPr lang="en-US" sz="1000"/>
          </a:p>
        </p:txBody>
      </p:sp>
      <p:sp>
        <p:nvSpPr>
          <p:cNvPr id="12" name="Shape 10"/>
          <p:cNvSpPr/>
          <p:nvPr/>
        </p:nvSpPr>
        <p:spPr>
          <a:xfrm>
            <a:off x="6126480" y="914400"/>
            <a:ext cx="2560320" cy="10515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905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126480" y="914400"/>
            <a:ext cx="2560320" cy="45720"/>
          </a:xfrm>
          <a:prstGeom prst="rect">
            <a:avLst/>
          </a:prstGeom>
          <a:solidFill>
            <a:srgbClr val="E07730"/>
          </a:solidFill>
          <a:ln/>
        </p:spPr>
      </p:sp>
      <p:sp>
        <p:nvSpPr>
          <p:cNvPr id="14" name="Text 12"/>
          <p:cNvSpPr/>
          <p:nvPr/>
        </p:nvSpPr>
        <p:spPr>
          <a:xfrm>
            <a:off x="6309360" y="10058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E07730"/>
                </a:solidFill>
                <a:latin typeface="Georgia" pitchFamily="34" charset="0"/>
              </a:rPr>
              <a:t>72</a:t>
            </a:r>
            <a:endParaRPr lang="en-US" sz="2800"/>
          </a:p>
        </p:txBody>
      </p:sp>
      <p:sp>
        <p:nvSpPr>
          <p:cNvPr id="15" name="Text 13"/>
          <p:cNvSpPr/>
          <p:nvPr/>
        </p:nvSpPr>
        <p:spPr>
          <a:xfrm>
            <a:off x="6309360" y="146304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 boards</a:t>
            </a:r>
            <a:endParaRPr lang="en-US" sz="1000"/>
          </a:p>
          <a:p>
            <a:pPr marL="0" indent="0">
              <a:buNone/>
            </a:pPr>
            <a:r>
              <a:rPr lang="en-US" sz="100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India</a:t>
            </a:r>
            <a:endParaRPr lang="en-US" sz="1000"/>
          </a:p>
          <a:p>
            <a:pPr marL="0" indent="0">
              <a:buNone/>
            </a:pPr>
            <a:r>
              <a:rPr lang="en-US" sz="100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(COBSE, 2026)</a:t>
            </a:r>
            <a:endParaRPr lang="en-US" sz="1000"/>
          </a:p>
        </p:txBody>
      </p:sp>
      <p:sp>
        <p:nvSpPr>
          <p:cNvPr id="16" name="Text 14"/>
          <p:cNvSpPr/>
          <p:nvPr/>
        </p:nvSpPr>
        <p:spPr>
          <a:xfrm>
            <a:off x="548640" y="214884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Distribution</a:t>
            </a:r>
            <a:endParaRPr lang="en-US" sz="1100"/>
          </a:p>
        </p:txBody>
      </p:sp>
      <p:sp>
        <p:nvSpPr>
          <p:cNvPr id="17" name="Shape 15"/>
          <p:cNvSpPr/>
          <p:nvPr/>
        </p:nvSpPr>
        <p:spPr>
          <a:xfrm>
            <a:off x="548640" y="2432304"/>
            <a:ext cx="8046720" cy="228600"/>
          </a:xfrm>
          <a:prstGeom prst="rect">
            <a:avLst/>
          </a:prstGeom>
          <a:solidFill>
            <a:srgbClr val="D6E4F0"/>
          </a:solidFill>
          <a:ln/>
        </p:spPr>
      </p:sp>
      <p:sp>
        <p:nvSpPr>
          <p:cNvPr id="18" name="Shape 16"/>
          <p:cNvSpPr/>
          <p:nvPr/>
        </p:nvSpPr>
        <p:spPr>
          <a:xfrm>
            <a:off x="548640" y="2432304"/>
            <a:ext cx="7077456" cy="228600"/>
          </a:xfrm>
          <a:prstGeom prst="rect">
            <a:avLst/>
          </a:prstGeom>
          <a:solidFill>
            <a:srgbClr val="2C5282"/>
          </a:solidFill>
          <a:ln/>
        </p:spPr>
      </p:sp>
      <p:sp>
        <p:nvSpPr>
          <p:cNvPr id="19" name="Shape 17"/>
          <p:cNvSpPr/>
          <p:nvPr/>
        </p:nvSpPr>
        <p:spPr>
          <a:xfrm>
            <a:off x="7626096" y="2432304"/>
            <a:ext cx="804672" cy="228600"/>
          </a:xfrm>
          <a:prstGeom prst="rect">
            <a:avLst/>
          </a:prstGeom>
          <a:solidFill>
            <a:srgbClr val="E07730"/>
          </a:solidFill>
          <a:ln/>
        </p:spPr>
      </p:sp>
      <p:sp>
        <p:nvSpPr>
          <p:cNvPr id="20" name="Text 18"/>
          <p:cNvSpPr/>
          <p:nvPr/>
        </p:nvSpPr>
        <p:spPr>
          <a:xfrm>
            <a:off x="685800" y="2432304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Boards — 88%</a:t>
            </a:r>
            <a:endParaRPr lang="en-US" sz="900"/>
          </a:p>
        </p:txBody>
      </p:sp>
      <p:sp>
        <p:nvSpPr>
          <p:cNvPr id="21" name="Shape 19"/>
          <p:cNvSpPr/>
          <p:nvPr/>
        </p:nvSpPr>
        <p:spPr>
          <a:xfrm>
            <a:off x="548640" y="2788920"/>
            <a:ext cx="164592" cy="118872"/>
          </a:xfrm>
          <a:prstGeom prst="rect">
            <a:avLst/>
          </a:prstGeom>
          <a:solidFill>
            <a:srgbClr val="2C5282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" y="2761488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Boards — 88%</a:t>
            </a:r>
            <a:endParaRPr lang="en-US" sz="850"/>
          </a:p>
        </p:txBody>
      </p:sp>
      <p:sp>
        <p:nvSpPr>
          <p:cNvPr id="23" name="Shape 21"/>
          <p:cNvSpPr/>
          <p:nvPr/>
        </p:nvSpPr>
        <p:spPr>
          <a:xfrm>
            <a:off x="2743200" y="2788920"/>
            <a:ext cx="164592" cy="118872"/>
          </a:xfrm>
          <a:prstGeom prst="rect">
            <a:avLst/>
          </a:prstGeom>
          <a:solidFill>
            <a:srgbClr val="E07730"/>
          </a:solidFill>
          <a:ln/>
        </p:spPr>
      </p:sp>
      <p:sp>
        <p:nvSpPr>
          <p:cNvPr id="24" name="Text 22"/>
          <p:cNvSpPr/>
          <p:nvPr/>
        </p:nvSpPr>
        <p:spPr>
          <a:xfrm>
            <a:off x="2971800" y="2761488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CBSE — 10%</a:t>
            </a:r>
            <a:endParaRPr lang="en-US" sz="850"/>
          </a:p>
        </p:txBody>
      </p:sp>
      <p:sp>
        <p:nvSpPr>
          <p:cNvPr id="25" name="Shape 23"/>
          <p:cNvSpPr/>
          <p:nvPr/>
        </p:nvSpPr>
        <p:spPr>
          <a:xfrm>
            <a:off x="4572000" y="2788920"/>
            <a:ext cx="164592" cy="118872"/>
          </a:xfrm>
          <a:prstGeom prst="rect">
            <a:avLst/>
          </a:prstGeom>
          <a:solidFill>
            <a:srgbClr val="D6E4F0"/>
          </a:solidFill>
          <a:ln/>
        </p:spPr>
      </p:sp>
      <p:sp>
        <p:nvSpPr>
          <p:cNvPr id="26" name="Text 24"/>
          <p:cNvSpPr/>
          <p:nvPr/>
        </p:nvSpPr>
        <p:spPr>
          <a:xfrm>
            <a:off x="4800600" y="2761488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ICSE / IB / Other — 2%</a:t>
            </a:r>
            <a:endParaRPr lang="en-US" sz="850"/>
          </a:p>
        </p:txBody>
      </p:sp>
      <p:sp>
        <p:nvSpPr>
          <p:cNvPr id="27" name="Text 25"/>
          <p:cNvSpPr/>
          <p:nvPr/>
        </p:nvSpPr>
        <p:spPr>
          <a:xfrm>
            <a:off x="548640" y="31546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2C52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Findings:</a:t>
            </a:r>
            <a:endParaRPr lang="en-US" sz="1200"/>
          </a:p>
        </p:txBody>
      </p:sp>
      <p:sp>
        <p:nvSpPr>
          <p:cNvPr id="28" name="Shape 26"/>
          <p:cNvSpPr/>
          <p:nvPr/>
        </p:nvSpPr>
        <p:spPr>
          <a:xfrm>
            <a:off x="548640" y="3520440"/>
            <a:ext cx="54864" cy="411480"/>
          </a:xfrm>
          <a:prstGeom prst="rect">
            <a:avLst/>
          </a:prstGeom>
          <a:solidFill>
            <a:srgbClr val="E07730"/>
          </a:solidFill>
          <a:ln/>
        </p:spPr>
      </p:sp>
      <p:sp>
        <p:nvSpPr>
          <p:cNvPr id="29" name="Text 27"/>
          <p:cNvSpPr/>
          <p:nvPr/>
        </p:nvSpPr>
        <p:spPr>
          <a:xfrm>
            <a:off x="777240" y="3520440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boards dominate</a:t>
            </a:r>
            <a:endParaRPr lang="en-US" sz="1150"/>
          </a:p>
        </p:txBody>
      </p:sp>
      <p:sp>
        <p:nvSpPr>
          <p:cNvPr id="30" name="Text 28"/>
          <p:cNvSpPr/>
          <p:nvPr/>
        </p:nvSpPr>
        <p:spPr>
          <a:xfrm>
            <a:off x="777240" y="3703320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88% of students are on state boards — each with its own curriculum and language</a:t>
            </a:r>
            <a:endParaRPr lang="en-US" sz="1050"/>
          </a:p>
        </p:txBody>
      </p:sp>
      <p:sp>
        <p:nvSpPr>
          <p:cNvPr id="31" name="Shape 29"/>
          <p:cNvSpPr/>
          <p:nvPr/>
        </p:nvSpPr>
        <p:spPr>
          <a:xfrm>
            <a:off x="548640" y="4023360"/>
            <a:ext cx="54864" cy="411480"/>
          </a:xfrm>
          <a:prstGeom prst="rect">
            <a:avLst/>
          </a:prstGeom>
          <a:solidFill>
            <a:srgbClr val="E07730"/>
          </a:solidFill>
          <a:ln/>
        </p:spPr>
      </p:sp>
      <p:sp>
        <p:nvSpPr>
          <p:cNvPr id="32" name="Text 30"/>
          <p:cNvSpPr/>
          <p:nvPr/>
        </p:nvSpPr>
        <p:spPr>
          <a:xfrm>
            <a:off x="777240" y="4023360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Hindi is the largest medium of instruction</a:t>
            </a:r>
            <a:endParaRPr lang="en-US" sz="1150"/>
          </a:p>
        </p:txBody>
      </p:sp>
      <p:sp>
        <p:nvSpPr>
          <p:cNvPr id="33" name="Text 31"/>
          <p:cNvSpPr/>
          <p:nvPr/>
        </p:nvSpPr>
        <p:spPr>
          <a:xfrm>
            <a:off x="777240" y="4206240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42%+ of students nationally study in Hindi</a:t>
            </a:r>
            <a:endParaRPr lang="en-US" sz="1050"/>
          </a:p>
        </p:txBody>
      </p:sp>
      <p:sp>
        <p:nvSpPr>
          <p:cNvPr id="34" name="Shape 32"/>
          <p:cNvSpPr/>
          <p:nvPr/>
        </p:nvSpPr>
        <p:spPr>
          <a:xfrm>
            <a:off x="548640" y="4526280"/>
            <a:ext cx="54864" cy="411480"/>
          </a:xfrm>
          <a:prstGeom prst="rect">
            <a:avLst/>
          </a:prstGeom>
          <a:solidFill>
            <a:srgbClr val="E07730"/>
          </a:solidFill>
          <a:ln/>
        </p:spPr>
      </p:sp>
      <p:sp>
        <p:nvSpPr>
          <p:cNvPr id="35" name="Text 33"/>
          <p:cNvSpPr/>
          <p:nvPr/>
        </p:nvSpPr>
        <p:spPr>
          <a:xfrm>
            <a:off x="777240" y="4526280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Grades 6-12 = highest demand zone</a:t>
            </a:r>
            <a:endParaRPr lang="en-US" sz="1150"/>
          </a:p>
        </p:txBody>
      </p:sp>
      <p:sp>
        <p:nvSpPr>
          <p:cNvPr id="36" name="Text 34"/>
          <p:cNvSpPr/>
          <p:nvPr/>
        </p:nvSpPr>
        <p:spPr>
          <a:xfrm>
            <a:off x="777240" y="4709160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exams, competitive prep, and subject specialization happen here</a:t>
            </a:r>
            <a:endParaRPr lang="en-US" sz="1050"/>
          </a:p>
        </p:txBody>
      </p:sp>
    </p:spTree>
    <p:extLst>
      <p:ext uri="{BB962C8B-B14F-4D97-AF65-F5344CB8AC3E}">
        <p14:creationId xmlns:p14="http://schemas.microsoft.com/office/powerpoint/2010/main" val="27881727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0773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2C52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Embibe Sits in This Market</a:t>
            </a:r>
            <a:endParaRPr lang="en-US" sz="260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IN" sz="1400" b="0" i="1" u="none" strike="noStrike" err="1">
                <a:solidFill>
                  <a:srgbClr val="3D3D3A"/>
                </a:solidFill>
                <a:effectLst/>
                <a:latin typeface="Anthropic Serif"/>
              </a:rPr>
              <a:t>Embibe</a:t>
            </a:r>
            <a:r>
              <a:rPr lang="en-IN" sz="1400" b="0" i="1" u="none" strike="noStrike">
                <a:solidFill>
                  <a:srgbClr val="3D3D3A"/>
                </a:solidFill>
                <a:effectLst/>
                <a:latin typeface="Anthropic Serif"/>
              </a:rPr>
              <a:t> reaches 20M of India's 248M school students — less than 8% of the total opportunity.</a:t>
            </a:r>
            <a:endParaRPr lang="en-US" sz="130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3749040" cy="26517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905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280160"/>
            <a:ext cx="3749040" cy="45720"/>
          </a:xfrm>
          <a:prstGeom prst="rect">
            <a:avLst/>
          </a:prstGeom>
          <a:solidFill>
            <a:srgbClr val="2C5282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41732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2C52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COVER</a:t>
            </a:r>
            <a:endParaRPr lang="en-US" sz="1200"/>
          </a:p>
        </p:txBody>
      </p:sp>
      <p:sp>
        <p:nvSpPr>
          <p:cNvPr id="8" name="Text 6"/>
          <p:cNvSpPr/>
          <p:nvPr/>
        </p:nvSpPr>
        <p:spPr>
          <a:xfrm>
            <a:off x="777240" y="1783080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Boards</a:t>
            </a:r>
            <a:endParaRPr lang="en-US" sz="1100"/>
          </a:p>
        </p:txBody>
      </p:sp>
      <p:sp>
        <p:nvSpPr>
          <p:cNvPr id="9" name="Text 7"/>
          <p:cNvSpPr/>
          <p:nvPr/>
        </p:nvSpPr>
        <p:spPr>
          <a:xfrm>
            <a:off x="777240" y="1947672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CBSE + select state boards</a:t>
            </a:r>
            <a:endParaRPr lang="en-US" sz="1050"/>
          </a:p>
        </p:txBody>
      </p:sp>
      <p:sp>
        <p:nvSpPr>
          <p:cNvPr id="10" name="Text 8"/>
          <p:cNvSpPr/>
          <p:nvPr/>
        </p:nvSpPr>
        <p:spPr>
          <a:xfrm>
            <a:off x="777240" y="2194560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Grades</a:t>
            </a:r>
            <a:endParaRPr lang="en-US" sz="1100"/>
          </a:p>
        </p:txBody>
      </p:sp>
      <p:sp>
        <p:nvSpPr>
          <p:cNvPr id="11" name="Text 9"/>
          <p:cNvSpPr/>
          <p:nvPr/>
        </p:nvSpPr>
        <p:spPr>
          <a:xfrm>
            <a:off x="777240" y="2359152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6-12 (some coverage)</a:t>
            </a:r>
            <a:endParaRPr lang="en-US" sz="1050"/>
          </a:p>
        </p:txBody>
      </p:sp>
      <p:sp>
        <p:nvSpPr>
          <p:cNvPr id="12" name="Text 10"/>
          <p:cNvSpPr/>
          <p:nvPr/>
        </p:nvSpPr>
        <p:spPr>
          <a:xfrm>
            <a:off x="777240" y="2606040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Subjects</a:t>
            </a:r>
            <a:endParaRPr lang="en-US" sz="1100"/>
          </a:p>
        </p:txBody>
      </p:sp>
      <p:sp>
        <p:nvSpPr>
          <p:cNvPr id="13" name="Text 11"/>
          <p:cNvSpPr/>
          <p:nvPr/>
        </p:nvSpPr>
        <p:spPr>
          <a:xfrm>
            <a:off x="777240" y="2770632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 + 3 Sciences (4 core STEM)</a:t>
            </a:r>
            <a:endParaRPr lang="en-US" sz="1050"/>
          </a:p>
        </p:txBody>
      </p:sp>
      <p:sp>
        <p:nvSpPr>
          <p:cNvPr id="14" name="Text 12"/>
          <p:cNvSpPr/>
          <p:nvPr/>
        </p:nvSpPr>
        <p:spPr>
          <a:xfrm>
            <a:off x="777240" y="3017520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</a:t>
            </a:r>
            <a:endParaRPr lang="en-US" sz="1100"/>
          </a:p>
        </p:txBody>
      </p:sp>
      <p:sp>
        <p:nvSpPr>
          <p:cNvPr id="15" name="Text 13"/>
          <p:cNvSpPr/>
          <p:nvPr/>
        </p:nvSpPr>
        <p:spPr>
          <a:xfrm>
            <a:off x="777240" y="3182112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English majorly</a:t>
            </a:r>
            <a:endParaRPr lang="en-US" sz="1050"/>
          </a:p>
        </p:txBody>
      </p:sp>
      <p:sp>
        <p:nvSpPr>
          <p:cNvPr id="16" name="Text 14"/>
          <p:cNvSpPr/>
          <p:nvPr/>
        </p:nvSpPr>
        <p:spPr>
          <a:xfrm>
            <a:off x="777240" y="3429000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types</a:t>
            </a:r>
            <a:endParaRPr lang="en-US" sz="1100"/>
          </a:p>
        </p:txBody>
      </p:sp>
      <p:sp>
        <p:nvSpPr>
          <p:cNvPr id="17" name="Text 15"/>
          <p:cNvSpPr/>
          <p:nvPr/>
        </p:nvSpPr>
        <p:spPr>
          <a:xfrm>
            <a:off x="777240" y="3593592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Textbook-aligned questions, curriculum mapping</a:t>
            </a:r>
            <a:endParaRPr lang="en-US" sz="1050"/>
          </a:p>
        </p:txBody>
      </p:sp>
      <p:sp>
        <p:nvSpPr>
          <p:cNvPr id="18" name="Shape 16"/>
          <p:cNvSpPr/>
          <p:nvPr/>
        </p:nvSpPr>
        <p:spPr>
          <a:xfrm>
            <a:off x="4846320" y="1303020"/>
            <a:ext cx="3749040" cy="26517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905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846320" y="1280160"/>
            <a:ext cx="3749040" cy="45720"/>
          </a:xfrm>
          <a:prstGeom prst="rect">
            <a:avLst/>
          </a:prstGeom>
          <a:solidFill>
            <a:srgbClr val="C53030"/>
          </a:solidFill>
          <a:ln/>
        </p:spPr>
      </p:sp>
      <p:sp>
        <p:nvSpPr>
          <p:cNvPr id="20" name="Text 18"/>
          <p:cNvSpPr/>
          <p:nvPr/>
        </p:nvSpPr>
        <p:spPr>
          <a:xfrm>
            <a:off x="5074920" y="141732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C5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DON'T COVER</a:t>
            </a:r>
            <a:endParaRPr lang="en-US" sz="1200"/>
          </a:p>
        </p:txBody>
      </p:sp>
      <p:sp>
        <p:nvSpPr>
          <p:cNvPr id="21" name="Text 19"/>
          <p:cNvSpPr/>
          <p:nvPr/>
        </p:nvSpPr>
        <p:spPr>
          <a:xfrm>
            <a:off x="5074920" y="1417320"/>
            <a:ext cx="3291840" cy="23774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>
                <a:solidFill>
                  <a:srgbClr val="374151"/>
                </a:solidFill>
                <a:latin typeface="Calibri"/>
                <a:ea typeface="Calibri"/>
                <a:cs typeface="Calibri"/>
              </a:rPr>
              <a:t>Hindi medium — 42% of all students, </a:t>
            </a:r>
            <a:r>
              <a:rPr lang="en-US" sz="1100" b="1">
                <a:solidFill>
                  <a:srgbClr val="E07730"/>
                </a:solidFill>
                <a:latin typeface="Calibri"/>
                <a:ea typeface="Calibri"/>
                <a:cs typeface="Calibri"/>
              </a:rPr>
              <a:t>incomplete content</a:t>
            </a: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>
                <a:solidFill>
                  <a:srgbClr val="374151"/>
                </a:solidFill>
                <a:latin typeface="Calibri"/>
                <a:ea typeface="Calibri"/>
                <a:cs typeface="Calibri"/>
              </a:rPr>
              <a:t>Regional languages — 14 languages,</a:t>
            </a:r>
            <a:r>
              <a:rPr lang="en-US" sz="1100" b="1">
                <a:solidFill>
                  <a:srgbClr val="E07730"/>
                </a:solidFill>
                <a:latin typeface="Calibri"/>
                <a:ea typeface="Calibri"/>
                <a:cs typeface="Calibri"/>
              </a:rPr>
              <a:t> incomplete content</a:t>
            </a: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Grades 1-5 — near 0% across all boards</a:t>
            </a:r>
            <a:endParaRPr lang="en-US" sz="110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NIOS — 3M+ students, entirely untouched</a:t>
            </a:r>
            <a:endParaRPr lang="en-US" sz="110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 &amp; Cambridge — premium segment, 0%</a:t>
            </a:r>
            <a:endParaRPr lang="en-US" sz="110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Non-STEM subjects (Languages, PE, Arts)</a:t>
            </a:r>
            <a:endParaRPr lang="en-US" sz="1100"/>
          </a:p>
        </p:txBody>
      </p:sp>
      <p:sp>
        <p:nvSpPr>
          <p:cNvPr id="22" name="Shape 20"/>
          <p:cNvSpPr/>
          <p:nvPr/>
        </p:nvSpPr>
        <p:spPr>
          <a:xfrm>
            <a:off x="548640" y="4160520"/>
            <a:ext cx="8046720" cy="548640"/>
          </a:xfrm>
          <a:prstGeom prst="rect">
            <a:avLst/>
          </a:prstGeom>
          <a:solidFill>
            <a:srgbClr val="FFF4EB"/>
          </a:solidFill>
          <a:ln/>
        </p:spPr>
      </p:sp>
      <p:sp>
        <p:nvSpPr>
          <p:cNvPr id="23" name="Text 21"/>
          <p:cNvSpPr/>
          <p:nvPr/>
        </p:nvSpPr>
        <p:spPr>
          <a:xfrm>
            <a:off x="777240" y="4160520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Today, Embibe covers only core STEM in English for Grades 6-12. </a:t>
            </a:r>
            <a:r>
              <a:rPr lang="en-US" sz="1300" b="1">
                <a:solidFill>
                  <a:srgbClr val="E077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90% of what students need is not yet available.</a:t>
            </a:r>
            <a:endParaRPr lang="en-US" sz="13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0773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2C52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Insights</a:t>
            </a:r>
            <a:endParaRPr lang="en-US" sz="2600"/>
          </a:p>
        </p:txBody>
      </p:sp>
      <p:sp>
        <p:nvSpPr>
          <p:cNvPr id="4" name="Shape 2"/>
          <p:cNvSpPr/>
          <p:nvPr/>
        </p:nvSpPr>
        <p:spPr>
          <a:xfrm>
            <a:off x="548640" y="960120"/>
            <a:ext cx="2560320" cy="34747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905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14300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2C52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800"/>
          </a:p>
        </p:txBody>
      </p:sp>
      <p:sp>
        <p:nvSpPr>
          <p:cNvPr id="6" name="Text 4"/>
          <p:cNvSpPr/>
          <p:nvPr/>
        </p:nvSpPr>
        <p:spPr>
          <a:xfrm>
            <a:off x="777240" y="164592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Hindi medium has zero full coverage</a:t>
            </a:r>
            <a:endParaRPr lang="en-US" sz="1300"/>
          </a:p>
        </p:txBody>
      </p:sp>
      <p:sp>
        <p:nvSpPr>
          <p:cNvPr id="7" name="Shape 5"/>
          <p:cNvSpPr/>
          <p:nvPr/>
        </p:nvSpPr>
        <p:spPr>
          <a:xfrm>
            <a:off x="777240" y="2331720"/>
            <a:ext cx="1097280" cy="0"/>
          </a:xfrm>
          <a:prstGeom prst="line">
            <a:avLst/>
          </a:prstGeom>
          <a:noFill/>
          <a:ln w="19050">
            <a:solidFill>
              <a:srgbClr val="E0773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2468880"/>
            <a:ext cx="21031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42% of India's students study in Hindi — across CBSE, Delhi Board, and 10+ state boards. Embibe has not a single completed Hindi learning module. </a:t>
            </a:r>
            <a:r>
              <a:rPr lang="en-US" sz="1100" b="1">
                <a:solidFill>
                  <a:srgbClr val="E07730"/>
                </a:solidFill>
                <a:latin typeface="Calibri"/>
                <a:ea typeface="Calibri"/>
                <a:cs typeface="Calibri"/>
              </a:rPr>
              <a:t>This is the single largest gap in the platform.</a:t>
            </a:r>
          </a:p>
        </p:txBody>
      </p:sp>
      <p:sp>
        <p:nvSpPr>
          <p:cNvPr id="9" name="Shape 7"/>
          <p:cNvSpPr/>
          <p:nvPr/>
        </p:nvSpPr>
        <p:spPr>
          <a:xfrm>
            <a:off x="3337560" y="960120"/>
            <a:ext cx="2560320" cy="34747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905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566160" y="114300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2C52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800"/>
          </a:p>
        </p:txBody>
      </p:sp>
      <p:sp>
        <p:nvSpPr>
          <p:cNvPr id="11" name="Text 9"/>
          <p:cNvSpPr/>
          <p:nvPr/>
        </p:nvSpPr>
        <p:spPr>
          <a:xfrm>
            <a:off x="3566160" y="164592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Delhi Board is a free win</a:t>
            </a:r>
            <a:endParaRPr lang="en-US" sz="1300"/>
          </a:p>
        </p:txBody>
      </p:sp>
      <p:sp>
        <p:nvSpPr>
          <p:cNvPr id="12" name="Shape 10"/>
          <p:cNvSpPr/>
          <p:nvPr/>
        </p:nvSpPr>
        <p:spPr>
          <a:xfrm>
            <a:off x="3566160" y="2331720"/>
            <a:ext cx="1097280" cy="0"/>
          </a:xfrm>
          <a:prstGeom prst="line">
            <a:avLst/>
          </a:prstGeom>
          <a:noFill/>
          <a:ln w="19050">
            <a:solidFill>
              <a:srgbClr val="E0773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66160" y="2468880"/>
            <a:ext cx="21031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>
                <a:solidFill>
                  <a:srgbClr val="374151"/>
                </a:solidFill>
                <a:latin typeface="Calibri"/>
                <a:ea typeface="Calibri"/>
                <a:cs typeface="Calibri"/>
              </a:rPr>
              <a:t>Delhi follows the CBSE curriculum. Existing CBSE content can be mapped directly to Delhi Board — </a:t>
            </a:r>
            <a:r>
              <a:rPr lang="en-US" sz="1100" b="1">
                <a:solidFill>
                  <a:srgbClr val="E07730"/>
                </a:solidFill>
                <a:latin typeface="Calibri"/>
                <a:ea typeface="Calibri"/>
                <a:cs typeface="Calibri"/>
              </a:rPr>
              <a:t>closing ~600 gaps (~18% of total)</a:t>
            </a:r>
            <a:r>
              <a:rPr lang="en-US" sz="1050">
                <a:solidFill>
                  <a:srgbClr val="374151"/>
                </a:solidFill>
                <a:latin typeface="Calibri"/>
                <a:ea typeface="Calibri"/>
                <a:cs typeface="Calibri"/>
              </a:rPr>
              <a:t> without creating anything new.</a:t>
            </a:r>
            <a:endParaRPr lang="en-US" sz="1050">
              <a:latin typeface="Calibri"/>
              <a:ea typeface="Calibri"/>
              <a:cs typeface="Calibri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6126480" y="960120"/>
            <a:ext cx="2560320" cy="34747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905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355080" y="114300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2C52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800"/>
          </a:p>
        </p:txBody>
      </p:sp>
      <p:sp>
        <p:nvSpPr>
          <p:cNvPr id="16" name="Text 14"/>
          <p:cNvSpPr/>
          <p:nvPr/>
        </p:nvSpPr>
        <p:spPr>
          <a:xfrm>
            <a:off x="6355080" y="164592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Partially completed courses to pick first</a:t>
            </a:r>
          </a:p>
        </p:txBody>
      </p:sp>
      <p:sp>
        <p:nvSpPr>
          <p:cNvPr id="17" name="Shape 15"/>
          <p:cNvSpPr/>
          <p:nvPr/>
        </p:nvSpPr>
        <p:spPr>
          <a:xfrm>
            <a:off x="6355080" y="2331720"/>
            <a:ext cx="1097280" cy="0"/>
          </a:xfrm>
          <a:prstGeom prst="line">
            <a:avLst/>
          </a:prstGeom>
          <a:noFill/>
          <a:ln w="19050">
            <a:solidFill>
              <a:srgbClr val="E0773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55080" y="2468880"/>
            <a:ext cx="21031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>
                <a:solidFill>
                  <a:srgbClr val="374151"/>
                </a:solidFill>
                <a:latin typeface="Calibri"/>
                <a:ea typeface="Calibri"/>
                <a:cs typeface="Calibri"/>
              </a:rPr>
              <a:t>These areas already have questions and curriculum mapping. What's missing: video lessons and publisher content. This is a production problem, not a content design problem.</a:t>
            </a:r>
            <a:br>
              <a:rPr lang="en-US" sz="1050">
                <a:latin typeface="Calibri"/>
                <a:ea typeface="Calibri"/>
                <a:cs typeface="Calibri"/>
              </a:rPr>
            </a:br>
            <a:br>
              <a:rPr lang="en-US" sz="1050"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100" b="1">
                <a:solidFill>
                  <a:srgbClr val="E07730"/>
                </a:solidFill>
                <a:latin typeface="Calibri"/>
                <a:ea typeface="Calibri"/>
                <a:cs typeface="Calibri"/>
              </a:rPr>
              <a:t>* ~95% is the total content gap today</a:t>
            </a:r>
          </a:p>
        </p:txBody>
      </p:sp>
    </p:spTree>
    <p:extLst>
      <p:ext uri="{BB962C8B-B14F-4D97-AF65-F5344CB8AC3E}">
        <p14:creationId xmlns:p14="http://schemas.microsoft.com/office/powerpoint/2010/main" val="31792670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0773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2C52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Insights (contd.)</a:t>
            </a:r>
            <a:endParaRPr lang="en-US" sz="2600"/>
          </a:p>
        </p:txBody>
      </p:sp>
      <p:sp>
        <p:nvSpPr>
          <p:cNvPr id="4" name="Shape 2"/>
          <p:cNvSpPr/>
          <p:nvPr/>
        </p:nvSpPr>
        <p:spPr>
          <a:xfrm>
            <a:off x="548640" y="960120"/>
            <a:ext cx="2560320" cy="34747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905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14300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2C52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800"/>
          </a:p>
        </p:txBody>
      </p:sp>
      <p:sp>
        <p:nvSpPr>
          <p:cNvPr id="6" name="Text 4"/>
          <p:cNvSpPr/>
          <p:nvPr/>
        </p:nvSpPr>
        <p:spPr>
          <a:xfrm>
            <a:off x="777240" y="164592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boards are below 5% coverage</a:t>
            </a:r>
            <a:endParaRPr lang="en-US" sz="1300"/>
          </a:p>
        </p:txBody>
      </p:sp>
      <p:sp>
        <p:nvSpPr>
          <p:cNvPr id="7" name="Shape 5"/>
          <p:cNvSpPr/>
          <p:nvPr/>
        </p:nvSpPr>
        <p:spPr>
          <a:xfrm>
            <a:off x="777240" y="2331720"/>
            <a:ext cx="1097280" cy="0"/>
          </a:xfrm>
          <a:prstGeom prst="line">
            <a:avLst/>
          </a:prstGeom>
          <a:noFill/>
          <a:ln w="19050">
            <a:solidFill>
              <a:srgbClr val="E0773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2468880"/>
            <a:ext cx="21031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Maharashtra, Tamil Nadu, Karnataka, Kerala — all above 90% uncovered. The little content that exists is English-medium STEM. Regional-language content is almost entirely absent across every state board.</a:t>
            </a:r>
            <a:endParaRPr lang="en-US" sz="1050"/>
          </a:p>
        </p:txBody>
      </p:sp>
      <p:sp>
        <p:nvSpPr>
          <p:cNvPr id="9" name="Shape 7"/>
          <p:cNvSpPr/>
          <p:nvPr/>
        </p:nvSpPr>
        <p:spPr>
          <a:xfrm>
            <a:off x="3337560" y="960120"/>
            <a:ext cx="2560320" cy="34747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905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566160" y="114300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2C52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2800"/>
          </a:p>
        </p:txBody>
      </p:sp>
      <p:sp>
        <p:nvSpPr>
          <p:cNvPr id="11" name="Text 9"/>
          <p:cNvSpPr/>
          <p:nvPr/>
        </p:nvSpPr>
        <p:spPr>
          <a:xfrm>
            <a:off x="3566160" y="164592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Assam is the easiest regional language win</a:t>
            </a:r>
            <a:endParaRPr lang="en-US" sz="1300"/>
          </a:p>
        </p:txBody>
      </p:sp>
      <p:sp>
        <p:nvSpPr>
          <p:cNvPr id="12" name="Shape 10"/>
          <p:cNvSpPr/>
          <p:nvPr/>
        </p:nvSpPr>
        <p:spPr>
          <a:xfrm>
            <a:off x="3566160" y="2331720"/>
            <a:ext cx="1097280" cy="0"/>
          </a:xfrm>
          <a:prstGeom prst="line">
            <a:avLst/>
          </a:prstGeom>
          <a:noFill/>
          <a:ln w="19050">
            <a:solidFill>
              <a:srgbClr val="E0773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66160" y="2468880"/>
            <a:ext cx="21031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Assam has more content in progress than content yet to be built — a rare position. Completing Assam would make it the first state board with meaningful vernacular coverage, and a model for other states.</a:t>
            </a:r>
            <a:endParaRPr lang="en-US" sz="1050"/>
          </a:p>
        </p:txBody>
      </p:sp>
      <p:sp>
        <p:nvSpPr>
          <p:cNvPr id="14" name="Shape 12"/>
          <p:cNvSpPr/>
          <p:nvPr/>
        </p:nvSpPr>
        <p:spPr>
          <a:xfrm>
            <a:off x="6126480" y="960120"/>
            <a:ext cx="2560320" cy="34747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905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355080" y="114300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2C52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2800"/>
          </a:p>
        </p:txBody>
      </p:sp>
      <p:sp>
        <p:nvSpPr>
          <p:cNvPr id="16" name="Text 14"/>
          <p:cNvSpPr/>
          <p:nvPr/>
        </p:nvSpPr>
        <p:spPr>
          <a:xfrm>
            <a:off x="6355080" y="164592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NIOS, IB, Cambridge are completely untouched</a:t>
            </a:r>
            <a:endParaRPr lang="en-US" sz="1300"/>
          </a:p>
        </p:txBody>
      </p:sp>
      <p:sp>
        <p:nvSpPr>
          <p:cNvPr id="17" name="Shape 15"/>
          <p:cNvSpPr/>
          <p:nvPr/>
        </p:nvSpPr>
        <p:spPr>
          <a:xfrm>
            <a:off x="6355080" y="2331720"/>
            <a:ext cx="1097280" cy="0"/>
          </a:xfrm>
          <a:prstGeom prst="line">
            <a:avLst/>
          </a:prstGeom>
          <a:noFill/>
          <a:ln w="19050">
            <a:solidFill>
              <a:srgbClr val="E0773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55080" y="2468880"/>
            <a:ext cx="21031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NIOS serves 3M+ students (open schooling, dropouts, working children). IB and Cambridge serve the premium international school segment. All three have zero content today and need a separate investment call.</a:t>
            </a:r>
            <a:endParaRPr lang="en-US" sz="105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0773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2C52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Vernacular Opportunity</a:t>
            </a:r>
            <a:endParaRPr lang="en-US" sz="260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374151"/>
                </a:solidFill>
                <a:latin typeface="Calibri"/>
                <a:ea typeface="Calibri"/>
                <a:cs typeface="Calibri"/>
              </a:rPr>
              <a:t>Hindi is the medium of instruction for 42%+ of India's students — and </a:t>
            </a:r>
            <a:r>
              <a:rPr lang="en-US" sz="1300" b="1" err="1">
                <a:solidFill>
                  <a:srgbClr val="374151"/>
                </a:solidFill>
                <a:latin typeface="Calibri"/>
                <a:ea typeface="Calibri"/>
                <a:cs typeface="Calibri"/>
              </a:rPr>
              <a:t>Embibe</a:t>
            </a:r>
            <a:r>
              <a:rPr lang="en-US" sz="1300" b="1">
                <a:solidFill>
                  <a:srgbClr val="374151"/>
                </a:solidFill>
                <a:latin typeface="Calibri"/>
                <a:ea typeface="Calibri"/>
                <a:cs typeface="Calibri"/>
              </a:rPr>
              <a:t> has minimal Hindi content today.</a:t>
            </a:r>
          </a:p>
        </p:txBody>
      </p:sp>
      <p:sp>
        <p:nvSpPr>
          <p:cNvPr id="5" name="Text 3"/>
          <p:cNvSpPr/>
          <p:nvPr/>
        </p:nvSpPr>
        <p:spPr>
          <a:xfrm>
            <a:off x="548640" y="109728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row = one language. Numbers show how many learning modules need to be built or completed.</a:t>
            </a:r>
            <a:endParaRPr lang="en-US" sz="100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8046720" cy="320040"/>
          </a:xfrm>
          <a:prstGeom prst="rect">
            <a:avLst/>
          </a:prstGeom>
          <a:solidFill>
            <a:srgbClr val="2C5282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4630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</a:t>
            </a:r>
            <a:endParaRPr lang="en-US" sz="1000"/>
          </a:p>
        </p:txBody>
      </p:sp>
      <p:sp>
        <p:nvSpPr>
          <p:cNvPr id="8" name="Text 6"/>
          <p:cNvSpPr/>
          <p:nvPr/>
        </p:nvSpPr>
        <p:spPr>
          <a:xfrm>
            <a:off x="2194560" y="146304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Started</a:t>
            </a:r>
            <a:endParaRPr lang="en-US" sz="1000"/>
          </a:p>
        </p:txBody>
      </p:sp>
      <p:sp>
        <p:nvSpPr>
          <p:cNvPr id="9" name="Text 7"/>
          <p:cNvSpPr/>
          <p:nvPr/>
        </p:nvSpPr>
        <p:spPr>
          <a:xfrm>
            <a:off x="3383280" y="146304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1000"/>
          </a:p>
        </p:txBody>
      </p:sp>
      <p:sp>
        <p:nvSpPr>
          <p:cNvPr id="10" name="Text 8"/>
          <p:cNvSpPr/>
          <p:nvPr/>
        </p:nvSpPr>
        <p:spPr>
          <a:xfrm>
            <a:off x="4572000" y="146304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&amp; Rationale</a:t>
            </a:r>
            <a:endParaRPr lang="en-US" sz="1000"/>
          </a:p>
        </p:txBody>
      </p:sp>
      <p:sp>
        <p:nvSpPr>
          <p:cNvPr id="11" name="Shape 9"/>
          <p:cNvSpPr/>
          <p:nvPr/>
        </p:nvSpPr>
        <p:spPr>
          <a:xfrm>
            <a:off x="548640" y="1783080"/>
            <a:ext cx="8046720" cy="274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1783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E077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Hindi</a:t>
            </a:r>
            <a:endParaRPr lang="en-US" sz="1000"/>
          </a:p>
        </p:txBody>
      </p:sp>
      <p:sp>
        <p:nvSpPr>
          <p:cNvPr id="13" name="Text 11"/>
          <p:cNvSpPr/>
          <p:nvPr/>
        </p:nvSpPr>
        <p:spPr>
          <a:xfrm>
            <a:off x="2194560" y="17830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2,184</a:t>
            </a:r>
            <a:endParaRPr lang="en-US" sz="1000"/>
          </a:p>
        </p:txBody>
      </p:sp>
      <p:sp>
        <p:nvSpPr>
          <p:cNvPr id="14" name="Text 12"/>
          <p:cNvSpPr/>
          <p:nvPr/>
        </p:nvSpPr>
        <p:spPr>
          <a:xfrm>
            <a:off x="3383280" y="178308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253</a:t>
            </a:r>
            <a:endParaRPr lang="en-US" sz="1000"/>
          </a:p>
        </p:txBody>
      </p:sp>
      <p:sp>
        <p:nvSpPr>
          <p:cNvPr id="15" name="Text 13"/>
          <p:cNvSpPr/>
          <p:nvPr/>
        </p:nvSpPr>
        <p:spPr>
          <a:xfrm>
            <a:off x="4572000" y="17830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374151"/>
                </a:solidFill>
                <a:latin typeface="Calibri"/>
                <a:ea typeface="Calibri"/>
                <a:cs typeface="Calibri"/>
              </a:rPr>
              <a:t>Highest priority. Complete in-progress first, then build new.</a:t>
            </a:r>
            <a:endParaRPr lang="en-US" sz="950">
              <a:latin typeface="Calibri"/>
              <a:ea typeface="Calibri"/>
              <a:cs typeface="Calibri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548640" y="2057400"/>
            <a:ext cx="8046720" cy="27432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20574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E077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Assamese</a:t>
            </a:r>
            <a:endParaRPr lang="en-US" sz="1000"/>
          </a:p>
        </p:txBody>
      </p:sp>
      <p:sp>
        <p:nvSpPr>
          <p:cNvPr id="18" name="Text 16"/>
          <p:cNvSpPr/>
          <p:nvPr/>
        </p:nvSpPr>
        <p:spPr>
          <a:xfrm>
            <a:off x="2194560" y="20574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162</a:t>
            </a:r>
            <a:endParaRPr lang="en-US" sz="1000"/>
          </a:p>
        </p:txBody>
      </p:sp>
      <p:sp>
        <p:nvSpPr>
          <p:cNvPr id="19" name="Text 17"/>
          <p:cNvSpPr/>
          <p:nvPr/>
        </p:nvSpPr>
        <p:spPr>
          <a:xfrm>
            <a:off x="3383280" y="20574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191</a:t>
            </a:r>
            <a:endParaRPr lang="en-US" sz="1000"/>
          </a:p>
        </p:txBody>
      </p:sp>
      <p:sp>
        <p:nvSpPr>
          <p:cNvPr id="20" name="Text 18"/>
          <p:cNvSpPr/>
          <p:nvPr/>
        </p:nvSpPr>
        <p:spPr>
          <a:xfrm>
            <a:off x="4572000" y="20574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quick win — more in-progress than not-started.</a:t>
            </a:r>
            <a:endParaRPr lang="en-US" sz="950"/>
          </a:p>
        </p:txBody>
      </p:sp>
      <p:sp>
        <p:nvSpPr>
          <p:cNvPr id="21" name="Shape 19"/>
          <p:cNvSpPr/>
          <p:nvPr/>
        </p:nvSpPr>
        <p:spPr>
          <a:xfrm>
            <a:off x="548640" y="2331720"/>
            <a:ext cx="8046720" cy="274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" name="Text 20"/>
          <p:cNvSpPr/>
          <p:nvPr/>
        </p:nvSpPr>
        <p:spPr>
          <a:xfrm>
            <a:off x="685800" y="23317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Telugu</a:t>
            </a:r>
            <a:endParaRPr lang="en-US" sz="1000"/>
          </a:p>
        </p:txBody>
      </p:sp>
      <p:sp>
        <p:nvSpPr>
          <p:cNvPr id="23" name="Text 21"/>
          <p:cNvSpPr/>
          <p:nvPr/>
        </p:nvSpPr>
        <p:spPr>
          <a:xfrm>
            <a:off x="2194560" y="23317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456</a:t>
            </a:r>
            <a:endParaRPr lang="en-US" sz="1000"/>
          </a:p>
        </p:txBody>
      </p:sp>
      <p:sp>
        <p:nvSpPr>
          <p:cNvPr id="24" name="Text 22"/>
          <p:cNvSpPr/>
          <p:nvPr/>
        </p:nvSpPr>
        <p:spPr>
          <a:xfrm>
            <a:off x="3383280" y="233172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1000"/>
          </a:p>
        </p:txBody>
      </p:sp>
      <p:sp>
        <p:nvSpPr>
          <p:cNvPr id="25" name="Text 23"/>
          <p:cNvSpPr/>
          <p:nvPr/>
        </p:nvSpPr>
        <p:spPr>
          <a:xfrm>
            <a:off x="4572000" y="23317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 + Telangana boards. High reach.</a:t>
            </a:r>
            <a:endParaRPr lang="en-US" sz="950"/>
          </a:p>
        </p:txBody>
      </p:sp>
      <p:sp>
        <p:nvSpPr>
          <p:cNvPr id="26" name="Shape 24"/>
          <p:cNvSpPr/>
          <p:nvPr/>
        </p:nvSpPr>
        <p:spPr>
          <a:xfrm>
            <a:off x="548640" y="2606040"/>
            <a:ext cx="8046720" cy="27432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27" name="Text 25"/>
          <p:cNvSpPr/>
          <p:nvPr/>
        </p:nvSpPr>
        <p:spPr>
          <a:xfrm>
            <a:off x="685800" y="26060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Tamil</a:t>
            </a:r>
            <a:endParaRPr lang="en-US" sz="1000"/>
          </a:p>
        </p:txBody>
      </p:sp>
      <p:sp>
        <p:nvSpPr>
          <p:cNvPr id="28" name="Text 26"/>
          <p:cNvSpPr/>
          <p:nvPr/>
        </p:nvSpPr>
        <p:spPr>
          <a:xfrm>
            <a:off x="2194560" y="26060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354</a:t>
            </a:r>
            <a:endParaRPr lang="en-US" sz="1000"/>
          </a:p>
        </p:txBody>
      </p:sp>
      <p:sp>
        <p:nvSpPr>
          <p:cNvPr id="29" name="Text 27"/>
          <p:cNvSpPr/>
          <p:nvPr/>
        </p:nvSpPr>
        <p:spPr>
          <a:xfrm>
            <a:off x="3383280" y="260604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/>
          </a:p>
        </p:txBody>
      </p:sp>
      <p:sp>
        <p:nvSpPr>
          <p:cNvPr id="30" name="Text 28"/>
          <p:cNvSpPr/>
          <p:nvPr/>
        </p:nvSpPr>
        <p:spPr>
          <a:xfrm>
            <a:off x="4572000" y="26060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Tamil Nadu Board demand.</a:t>
            </a:r>
            <a:endParaRPr lang="en-US" sz="950"/>
          </a:p>
        </p:txBody>
      </p:sp>
      <p:sp>
        <p:nvSpPr>
          <p:cNvPr id="31" name="Shape 29"/>
          <p:cNvSpPr/>
          <p:nvPr/>
        </p:nvSpPr>
        <p:spPr>
          <a:xfrm>
            <a:off x="548640" y="2880360"/>
            <a:ext cx="8046720" cy="274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2" name="Text 30"/>
          <p:cNvSpPr/>
          <p:nvPr/>
        </p:nvSpPr>
        <p:spPr>
          <a:xfrm>
            <a:off x="685800" y="28803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Kannada</a:t>
            </a:r>
            <a:endParaRPr lang="en-US" sz="1000"/>
          </a:p>
        </p:txBody>
      </p:sp>
      <p:sp>
        <p:nvSpPr>
          <p:cNvPr id="33" name="Text 31"/>
          <p:cNvSpPr/>
          <p:nvPr/>
        </p:nvSpPr>
        <p:spPr>
          <a:xfrm>
            <a:off x="2194560" y="28803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343</a:t>
            </a:r>
            <a:endParaRPr lang="en-US" sz="1000"/>
          </a:p>
        </p:txBody>
      </p:sp>
      <p:sp>
        <p:nvSpPr>
          <p:cNvPr id="34" name="Text 32"/>
          <p:cNvSpPr/>
          <p:nvPr/>
        </p:nvSpPr>
        <p:spPr>
          <a:xfrm>
            <a:off x="3383280" y="288036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/>
          </a:p>
        </p:txBody>
      </p:sp>
      <p:sp>
        <p:nvSpPr>
          <p:cNvPr id="35" name="Text 33"/>
          <p:cNvSpPr/>
          <p:nvPr/>
        </p:nvSpPr>
        <p:spPr>
          <a:xfrm>
            <a:off x="4572000" y="28803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Karnataka Board demand.</a:t>
            </a:r>
            <a:endParaRPr lang="en-US" sz="950"/>
          </a:p>
        </p:txBody>
      </p:sp>
      <p:sp>
        <p:nvSpPr>
          <p:cNvPr id="36" name="Shape 34"/>
          <p:cNvSpPr/>
          <p:nvPr/>
        </p:nvSpPr>
        <p:spPr>
          <a:xfrm>
            <a:off x="548640" y="3154680"/>
            <a:ext cx="8046720" cy="27432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37" name="Text 35"/>
          <p:cNvSpPr/>
          <p:nvPr/>
        </p:nvSpPr>
        <p:spPr>
          <a:xfrm>
            <a:off x="685800" y="31546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Malayalam</a:t>
            </a:r>
            <a:endParaRPr lang="en-US" sz="1000"/>
          </a:p>
        </p:txBody>
      </p:sp>
      <p:sp>
        <p:nvSpPr>
          <p:cNvPr id="38" name="Text 36"/>
          <p:cNvSpPr/>
          <p:nvPr/>
        </p:nvSpPr>
        <p:spPr>
          <a:xfrm>
            <a:off x="2194560" y="31546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333</a:t>
            </a:r>
            <a:endParaRPr lang="en-US" sz="1000"/>
          </a:p>
        </p:txBody>
      </p:sp>
      <p:sp>
        <p:nvSpPr>
          <p:cNvPr id="39" name="Text 37"/>
          <p:cNvSpPr/>
          <p:nvPr/>
        </p:nvSpPr>
        <p:spPr>
          <a:xfrm>
            <a:off x="3383280" y="315468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/>
          </a:p>
        </p:txBody>
      </p:sp>
      <p:sp>
        <p:nvSpPr>
          <p:cNvPr id="40" name="Text 38"/>
          <p:cNvSpPr/>
          <p:nvPr/>
        </p:nvSpPr>
        <p:spPr>
          <a:xfrm>
            <a:off x="4572000" y="31546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Kerala Board demand.</a:t>
            </a:r>
            <a:endParaRPr lang="en-US" sz="950"/>
          </a:p>
        </p:txBody>
      </p:sp>
      <p:sp>
        <p:nvSpPr>
          <p:cNvPr id="41" name="Shape 39"/>
          <p:cNvSpPr/>
          <p:nvPr/>
        </p:nvSpPr>
        <p:spPr>
          <a:xfrm>
            <a:off x="548640" y="3429000"/>
            <a:ext cx="8046720" cy="274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2" name="Text 40"/>
          <p:cNvSpPr/>
          <p:nvPr/>
        </p:nvSpPr>
        <p:spPr>
          <a:xfrm>
            <a:off x="685800" y="34290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Bengali</a:t>
            </a:r>
            <a:endParaRPr lang="en-US" sz="1000"/>
          </a:p>
        </p:txBody>
      </p:sp>
      <p:sp>
        <p:nvSpPr>
          <p:cNvPr id="43" name="Text 41"/>
          <p:cNvSpPr/>
          <p:nvPr/>
        </p:nvSpPr>
        <p:spPr>
          <a:xfrm>
            <a:off x="2194560" y="34290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323</a:t>
            </a:r>
            <a:endParaRPr lang="en-US" sz="1000"/>
          </a:p>
        </p:txBody>
      </p:sp>
      <p:sp>
        <p:nvSpPr>
          <p:cNvPr id="44" name="Text 42"/>
          <p:cNvSpPr/>
          <p:nvPr/>
        </p:nvSpPr>
        <p:spPr>
          <a:xfrm>
            <a:off x="3383280" y="34290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000"/>
          </a:p>
        </p:txBody>
      </p:sp>
      <p:sp>
        <p:nvSpPr>
          <p:cNvPr id="45" name="Text 43"/>
          <p:cNvSpPr/>
          <p:nvPr/>
        </p:nvSpPr>
        <p:spPr>
          <a:xfrm>
            <a:off x="4572000" y="34290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West Bengal Board demand.</a:t>
            </a:r>
            <a:endParaRPr lang="en-US" sz="950"/>
          </a:p>
        </p:txBody>
      </p:sp>
      <p:sp>
        <p:nvSpPr>
          <p:cNvPr id="46" name="Shape 44"/>
          <p:cNvSpPr/>
          <p:nvPr/>
        </p:nvSpPr>
        <p:spPr>
          <a:xfrm>
            <a:off x="548640" y="3703320"/>
            <a:ext cx="8046720" cy="27432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47" name="Text 45"/>
          <p:cNvSpPr/>
          <p:nvPr/>
        </p:nvSpPr>
        <p:spPr>
          <a:xfrm>
            <a:off x="685800" y="3703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Gujarati</a:t>
            </a:r>
            <a:endParaRPr lang="en-US" sz="1000"/>
          </a:p>
        </p:txBody>
      </p:sp>
      <p:sp>
        <p:nvSpPr>
          <p:cNvPr id="48" name="Text 46"/>
          <p:cNvSpPr/>
          <p:nvPr/>
        </p:nvSpPr>
        <p:spPr>
          <a:xfrm>
            <a:off x="2194560" y="37033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307</a:t>
            </a:r>
            <a:endParaRPr lang="en-US" sz="1000"/>
          </a:p>
        </p:txBody>
      </p:sp>
      <p:sp>
        <p:nvSpPr>
          <p:cNvPr id="49" name="Text 47"/>
          <p:cNvSpPr/>
          <p:nvPr/>
        </p:nvSpPr>
        <p:spPr>
          <a:xfrm>
            <a:off x="3383280" y="370332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/>
          </a:p>
        </p:txBody>
      </p:sp>
      <p:sp>
        <p:nvSpPr>
          <p:cNvPr id="50" name="Text 48"/>
          <p:cNvSpPr/>
          <p:nvPr/>
        </p:nvSpPr>
        <p:spPr>
          <a:xfrm>
            <a:off x="4572000" y="37033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Gujarat Board demand.</a:t>
            </a:r>
            <a:endParaRPr lang="en-US" sz="950"/>
          </a:p>
        </p:txBody>
      </p:sp>
      <p:sp>
        <p:nvSpPr>
          <p:cNvPr id="51" name="Shape 49"/>
          <p:cNvSpPr/>
          <p:nvPr/>
        </p:nvSpPr>
        <p:spPr>
          <a:xfrm>
            <a:off x="548640" y="3977640"/>
            <a:ext cx="8046720" cy="274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2" name="Text 50"/>
          <p:cNvSpPr/>
          <p:nvPr/>
        </p:nvSpPr>
        <p:spPr>
          <a:xfrm>
            <a:off x="685800" y="39776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Marathi</a:t>
            </a:r>
            <a:endParaRPr lang="en-US" sz="1000"/>
          </a:p>
        </p:txBody>
      </p:sp>
      <p:sp>
        <p:nvSpPr>
          <p:cNvPr id="53" name="Text 51"/>
          <p:cNvSpPr/>
          <p:nvPr/>
        </p:nvSpPr>
        <p:spPr>
          <a:xfrm>
            <a:off x="2194560" y="39776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265</a:t>
            </a:r>
            <a:endParaRPr lang="en-US" sz="1000"/>
          </a:p>
        </p:txBody>
      </p:sp>
      <p:sp>
        <p:nvSpPr>
          <p:cNvPr id="54" name="Text 52"/>
          <p:cNvSpPr/>
          <p:nvPr/>
        </p:nvSpPr>
        <p:spPr>
          <a:xfrm>
            <a:off x="3383280" y="397764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/>
          </a:p>
        </p:txBody>
      </p:sp>
      <p:sp>
        <p:nvSpPr>
          <p:cNvPr id="55" name="Text 53"/>
          <p:cNvSpPr/>
          <p:nvPr/>
        </p:nvSpPr>
        <p:spPr>
          <a:xfrm>
            <a:off x="4572000" y="39776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Maharashtra Board demand.</a:t>
            </a:r>
            <a:endParaRPr lang="en-US" sz="950"/>
          </a:p>
        </p:txBody>
      </p:sp>
      <p:sp>
        <p:nvSpPr>
          <p:cNvPr id="56" name="Shape 54"/>
          <p:cNvSpPr/>
          <p:nvPr/>
        </p:nvSpPr>
        <p:spPr>
          <a:xfrm>
            <a:off x="548640" y="4251960"/>
            <a:ext cx="8046720" cy="27432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57" name="Text 55"/>
          <p:cNvSpPr/>
          <p:nvPr/>
        </p:nvSpPr>
        <p:spPr>
          <a:xfrm>
            <a:off x="685800" y="42519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Urdu / Punjabi / Others</a:t>
            </a:r>
            <a:endParaRPr lang="en-US" sz="1000"/>
          </a:p>
        </p:txBody>
      </p:sp>
      <p:sp>
        <p:nvSpPr>
          <p:cNvPr id="58" name="Text 56"/>
          <p:cNvSpPr/>
          <p:nvPr/>
        </p:nvSpPr>
        <p:spPr>
          <a:xfrm>
            <a:off x="2194560" y="42519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750+</a:t>
            </a:r>
            <a:endParaRPr lang="en-US" sz="1000"/>
          </a:p>
        </p:txBody>
      </p:sp>
      <p:sp>
        <p:nvSpPr>
          <p:cNvPr id="59" name="Text 57"/>
          <p:cNvSpPr/>
          <p:nvPr/>
        </p:nvSpPr>
        <p:spPr>
          <a:xfrm>
            <a:off x="3383280" y="425196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00"/>
          </a:p>
        </p:txBody>
      </p:sp>
      <p:sp>
        <p:nvSpPr>
          <p:cNvPr id="60" name="Text 58"/>
          <p:cNvSpPr/>
          <p:nvPr/>
        </p:nvSpPr>
        <p:spPr>
          <a:xfrm>
            <a:off x="4572000" y="42519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Long-term. Full build required.</a:t>
            </a:r>
            <a:endParaRPr lang="en-US" sz="950"/>
          </a:p>
        </p:txBody>
      </p:sp>
    </p:spTree>
    <p:extLst>
      <p:ext uri="{BB962C8B-B14F-4D97-AF65-F5344CB8AC3E}">
        <p14:creationId xmlns:p14="http://schemas.microsoft.com/office/powerpoint/2010/main" val="22659811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0773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54864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2C5282"/>
                </a:solidFill>
                <a:latin typeface="Georgia" pitchFamily="34" charset="0"/>
              </a:rPr>
              <a:t>Embibe Content Coverage Gap: Total</a:t>
            </a:r>
          </a:p>
        </p:txBody>
      </p:sp>
      <p:sp>
        <p:nvSpPr>
          <p:cNvPr id="4" name="Text 2"/>
          <p:cNvSpPr/>
          <p:nvPr/>
        </p:nvSpPr>
        <p:spPr>
          <a:xfrm>
            <a:off x="548640" y="8730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2C5282"/>
                </a:solidFill>
                <a:latin typeface="Calibri" pitchFamily="34" charset="0"/>
              </a:rPr>
              <a:t>11,574 subject-grade courses</a:t>
            </a:r>
            <a:r>
              <a:rPr lang="en-US" sz="1200">
                <a:solidFill>
                  <a:srgbClr val="374151"/>
                </a:solidFill>
                <a:latin typeface="Calibri" pitchFamily="34" charset="0"/>
              </a:rPr>
              <a:t> across 35 boards where a student opens Embibe and finds no lessons, no videos, no practice material.</a:t>
            </a:r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2651760" cy="23774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905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2651760" cy="45720"/>
          </a:xfrm>
          <a:prstGeom prst="rect">
            <a:avLst/>
          </a:prstGeom>
          <a:solidFill>
            <a:srgbClr val="2C528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731520" y="17830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2C5282"/>
                </a:solidFill>
                <a:latin typeface="Calibri" pitchFamily="34" charset="0"/>
              </a:rPr>
              <a:t>NIOS: 2,400 Empty Courses</a:t>
            </a:r>
          </a:p>
        </p:txBody>
      </p:sp>
      <p:sp>
        <p:nvSpPr>
          <p:cNvPr id="8" name="Text 6"/>
          <p:cNvSpPr/>
          <p:nvPr/>
        </p:nvSpPr>
        <p:spPr>
          <a:xfrm>
            <a:off x="731520" y="2194560"/>
            <a:ext cx="2286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>
                <a:solidFill>
                  <a:srgbClr val="374151"/>
                </a:solidFill>
                <a:latin typeface="Calibri"/>
                <a:ea typeface="Calibri"/>
                <a:cs typeface="Calibri"/>
              </a:rPr>
              <a:t>India's largest open-schooling system serves 3M+ students. Not one course on </a:t>
            </a:r>
            <a:r>
              <a:rPr lang="en-US" sz="1100" err="1">
                <a:solidFill>
                  <a:srgbClr val="374151"/>
                </a:solidFill>
                <a:latin typeface="Calibri"/>
                <a:ea typeface="Calibri"/>
                <a:cs typeface="Calibri"/>
              </a:rPr>
              <a:t>Embibe's</a:t>
            </a:r>
            <a:r>
              <a:rPr lang="en-US" sz="1100">
                <a:solidFill>
                  <a:srgbClr val="374151"/>
                </a:solidFill>
                <a:latin typeface="Calibri"/>
                <a:ea typeface="Calibri"/>
                <a:cs typeface="Calibri"/>
              </a:rPr>
              <a:t> has full content. That's </a:t>
            </a:r>
            <a:r>
              <a:rPr lang="en-US" sz="1100" b="1">
                <a:solidFill>
                  <a:srgbClr val="E07730"/>
                </a:solidFill>
                <a:latin typeface="Calibri"/>
                <a:ea typeface="Calibri"/>
                <a:cs typeface="Calibri"/>
              </a:rPr>
              <a:t>21% of all empty courses — from a single board.</a:t>
            </a:r>
          </a:p>
        </p:txBody>
      </p:sp>
      <p:sp>
        <p:nvSpPr>
          <p:cNvPr id="9" name="Shape 7"/>
          <p:cNvSpPr/>
          <p:nvPr/>
        </p:nvSpPr>
        <p:spPr>
          <a:xfrm>
            <a:off x="3429000" y="1600200"/>
            <a:ext cx="2651760" cy="23774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905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0" name="Shape 8"/>
          <p:cNvSpPr/>
          <p:nvPr/>
        </p:nvSpPr>
        <p:spPr>
          <a:xfrm>
            <a:off x="3429000" y="1600200"/>
            <a:ext cx="2651760" cy="45720"/>
          </a:xfrm>
          <a:prstGeom prst="rect">
            <a:avLst/>
          </a:prstGeom>
          <a:solidFill>
            <a:srgbClr val="C5303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3611880" y="17830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C53030"/>
                </a:solidFill>
                <a:latin typeface="Calibri" pitchFamily="34" charset="0"/>
              </a:rPr>
              <a:t>Top 5 = 39% of the Problem</a:t>
            </a:r>
          </a:p>
        </p:txBody>
      </p:sp>
      <p:sp>
        <p:nvSpPr>
          <p:cNvPr id="12" name="Text 10"/>
          <p:cNvSpPr/>
          <p:nvPr/>
        </p:nvSpPr>
        <p:spPr>
          <a:xfrm>
            <a:off x="3611880" y="2194560"/>
            <a:ext cx="2286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374151"/>
                </a:solidFill>
                <a:latin typeface="Calibri" pitchFamily="34" charset="0"/>
              </a:rPr>
              <a:t>NIOS (2,400), Delhi (716), CBSE (665), Tamil Nadu (403), and Karnataka (386) account for ~4,570 empty courses. Fixing five boards closes nearly two-fifths of the entire backlog.</a:t>
            </a:r>
          </a:p>
        </p:txBody>
      </p:sp>
      <p:sp>
        <p:nvSpPr>
          <p:cNvPr id="13" name="Shape 11"/>
          <p:cNvSpPr/>
          <p:nvPr/>
        </p:nvSpPr>
        <p:spPr>
          <a:xfrm>
            <a:off x="6309360" y="1600200"/>
            <a:ext cx="2651760" cy="23774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905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4" name="Shape 12"/>
          <p:cNvSpPr/>
          <p:nvPr/>
        </p:nvSpPr>
        <p:spPr>
          <a:xfrm>
            <a:off x="6309360" y="1600200"/>
            <a:ext cx="2651760" cy="45720"/>
          </a:xfrm>
          <a:prstGeom prst="rect">
            <a:avLst/>
          </a:prstGeom>
          <a:solidFill>
            <a:srgbClr val="E0773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/>
          <p:nvPr/>
        </p:nvSpPr>
        <p:spPr>
          <a:xfrm>
            <a:off x="6492240" y="17830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E07730"/>
                </a:solidFill>
                <a:latin typeface="Calibri" pitchFamily="34" charset="0"/>
              </a:rPr>
              <a:t>The Remaining 30 Boards</a:t>
            </a:r>
          </a:p>
        </p:txBody>
      </p:sp>
      <p:sp>
        <p:nvSpPr>
          <p:cNvPr id="16" name="Text 14"/>
          <p:cNvSpPr/>
          <p:nvPr/>
        </p:nvSpPr>
        <p:spPr>
          <a:xfrm>
            <a:off x="6492240" y="2194560"/>
            <a:ext cx="2286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374151"/>
                </a:solidFill>
                <a:latin typeface="Calibri" pitchFamily="34" charset="0"/>
              </a:rPr>
              <a:t>Each averages ~233 empty courses. Individually manageable, but collectively they add up to 7,000+ students left without content — the long tail that compounds the coverage problem.</a:t>
            </a:r>
          </a:p>
        </p:txBody>
      </p:sp>
      <p:sp>
        <p:nvSpPr>
          <p:cNvPr id="17" name="Shape 15"/>
          <p:cNvSpPr/>
          <p:nvPr/>
        </p:nvSpPr>
        <p:spPr>
          <a:xfrm>
            <a:off x="548640" y="4251960"/>
            <a:ext cx="8382091" cy="502920"/>
          </a:xfrm>
          <a:prstGeom prst="rect">
            <a:avLst/>
          </a:prstGeom>
          <a:solidFill>
            <a:srgbClr val="FFF4E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8" name="Text 16"/>
          <p:cNvSpPr/>
          <p:nvPr/>
        </p:nvSpPr>
        <p:spPr>
          <a:xfrm>
            <a:off x="777240" y="425196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>
                <a:solidFill>
                  <a:srgbClr val="374151"/>
                </a:solidFill>
                <a:latin typeface="Calibri"/>
                <a:ea typeface="Calibri"/>
                <a:cs typeface="Calibri"/>
              </a:rPr>
              <a:t>Every empty course is a student searching and finding nothing. </a:t>
            </a:r>
            <a:r>
              <a:rPr lang="en-US" sz="1200" b="1">
                <a:solidFill>
                  <a:srgbClr val="E07730"/>
                </a:solidFill>
                <a:latin typeface="Calibri"/>
                <a:ea typeface="Calibri"/>
                <a:cs typeface="Calibri"/>
              </a:rPr>
              <a:t>The platform structure exists- the content doesn't.</a:t>
            </a:r>
          </a:p>
        </p:txBody>
      </p:sp>
    </p:spTree>
    <p:extLst>
      <p:ext uri="{BB962C8B-B14F-4D97-AF65-F5344CB8AC3E}">
        <p14:creationId xmlns:p14="http://schemas.microsoft.com/office/powerpoint/2010/main" val="24288259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0773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54864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2C5282"/>
                </a:solidFill>
                <a:latin typeface="Georgia" pitchFamily="34" charset="0"/>
              </a:rPr>
              <a:t>Embibe Content Coverage Gap: Partial</a:t>
            </a:r>
          </a:p>
        </p:txBody>
      </p:sp>
      <p:sp>
        <p:nvSpPr>
          <p:cNvPr id="4" name="Text 2"/>
          <p:cNvSpPr/>
          <p:nvPr/>
        </p:nvSpPr>
        <p:spPr>
          <a:xfrm>
            <a:off x="548640" y="8730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>
                <a:solidFill>
                  <a:srgbClr val="2C5282"/>
                </a:solidFill>
                <a:latin typeface="Calibri"/>
                <a:ea typeface="Calibri"/>
                <a:cs typeface="Calibri"/>
              </a:rPr>
              <a:t>745 subject-grade tracks</a:t>
            </a:r>
            <a:r>
              <a:rPr lang="en-US" sz="1200" dirty="0">
                <a:solidFill>
                  <a:srgbClr val="374151"/>
                </a:solidFill>
                <a:latin typeface="Calibri"/>
                <a:ea typeface="Calibri"/>
                <a:cs typeface="Calibri"/>
              </a:rPr>
              <a:t> have their curriculum backbone in place but remain incomplete for students.</a:t>
            </a:r>
          </a:p>
          <a:p>
            <a:pPr marL="0" indent="0">
              <a:spcBef>
                <a:spcPts val="200"/>
              </a:spcBef>
              <a:buNone/>
            </a:pPr>
            <a:endParaRPr lang="en-US" sz="1100" i="1" dirty="0">
              <a:solidFill>
                <a:srgbClr val="6B7280"/>
              </a:solidFill>
              <a:latin typeface="Calibri" pitchFamily="34" charset="0"/>
              <a:ea typeface="Calibri"/>
              <a:cs typeface="Calibri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2651760" cy="23774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905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2651760" cy="45720"/>
          </a:xfrm>
          <a:prstGeom prst="rect">
            <a:avLst/>
          </a:prstGeom>
          <a:solidFill>
            <a:srgbClr val="2C528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731520" y="17830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2C52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Exists</a:t>
            </a:r>
            <a:endParaRPr lang="en-US" sz="1300"/>
          </a:p>
        </p:txBody>
      </p:sp>
      <p:sp>
        <p:nvSpPr>
          <p:cNvPr id="8" name="Text 6"/>
          <p:cNvSpPr/>
          <p:nvPr/>
        </p:nvSpPr>
        <p:spPr>
          <a:xfrm>
            <a:off x="731520" y="2194560"/>
            <a:ext cx="2286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374151"/>
                </a:solidFill>
                <a:latin typeface="Calibri" pitchFamily="34" charset="0"/>
              </a:rPr>
              <a:t>All 745 tracks have questions, curriculum mapping, board alignment, and language tagging complete — the full structural foundation is built.</a:t>
            </a:r>
          </a:p>
        </p:txBody>
      </p:sp>
      <p:sp>
        <p:nvSpPr>
          <p:cNvPr id="9" name="Shape 7"/>
          <p:cNvSpPr/>
          <p:nvPr/>
        </p:nvSpPr>
        <p:spPr>
          <a:xfrm>
            <a:off x="3429000" y="1600200"/>
            <a:ext cx="2651760" cy="23774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905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0" name="Shape 8"/>
          <p:cNvSpPr/>
          <p:nvPr/>
        </p:nvSpPr>
        <p:spPr>
          <a:xfrm>
            <a:off x="3429000" y="1600200"/>
            <a:ext cx="2651760" cy="45720"/>
          </a:xfrm>
          <a:prstGeom prst="rect">
            <a:avLst/>
          </a:prstGeom>
          <a:solidFill>
            <a:srgbClr val="C5303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3611880" y="17830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C5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Blocking</a:t>
            </a:r>
            <a:endParaRPr lang="en-US" sz="1300"/>
          </a:p>
        </p:txBody>
      </p:sp>
      <p:sp>
        <p:nvSpPr>
          <p:cNvPr id="12" name="Text 10"/>
          <p:cNvSpPr/>
          <p:nvPr/>
        </p:nvSpPr>
        <p:spPr>
          <a:xfrm>
            <a:off x="3611880" y="2194560"/>
            <a:ext cx="2286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>
                <a:solidFill>
                  <a:srgbClr val="374151"/>
                </a:solidFill>
                <a:latin typeface="Calibri"/>
                <a:ea typeface="Calibri"/>
                <a:cs typeface="Calibri"/>
              </a:rPr>
              <a:t>They lack these three: video lessons, structured learning modules, and publisher textbook content.</a:t>
            </a:r>
          </a:p>
        </p:txBody>
      </p:sp>
      <p:sp>
        <p:nvSpPr>
          <p:cNvPr id="13" name="Shape 11"/>
          <p:cNvSpPr/>
          <p:nvPr/>
        </p:nvSpPr>
        <p:spPr>
          <a:xfrm>
            <a:off x="6309360" y="1600200"/>
            <a:ext cx="2651760" cy="23774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905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4" name="Shape 12"/>
          <p:cNvSpPr/>
          <p:nvPr/>
        </p:nvSpPr>
        <p:spPr>
          <a:xfrm>
            <a:off x="6309360" y="1600200"/>
            <a:ext cx="2651760" cy="45720"/>
          </a:xfrm>
          <a:prstGeom prst="rect">
            <a:avLst/>
          </a:prstGeom>
          <a:solidFill>
            <a:srgbClr val="E0773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/>
          <p:nvPr/>
        </p:nvSpPr>
        <p:spPr>
          <a:xfrm>
            <a:off x="6492240" y="17830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E077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Needed</a:t>
            </a:r>
            <a:endParaRPr lang="en-US" sz="1300"/>
          </a:p>
        </p:txBody>
      </p:sp>
      <p:sp>
        <p:nvSpPr>
          <p:cNvPr id="16" name="Text 14"/>
          <p:cNvSpPr/>
          <p:nvPr/>
        </p:nvSpPr>
        <p:spPr>
          <a:xfrm>
            <a:off x="6492240" y="2194560"/>
            <a:ext cx="2286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374151"/>
                </a:solidFill>
                <a:latin typeface="Calibri" pitchFamily="34" charset="0"/>
              </a:rPr>
              <a:t>Priority: video production and publisher licensing for high-demand areas. Gen-AI lessons as an interim bridge for the long tail.</a:t>
            </a:r>
          </a:p>
        </p:txBody>
      </p:sp>
      <p:sp>
        <p:nvSpPr>
          <p:cNvPr id="17" name="Shape 15"/>
          <p:cNvSpPr/>
          <p:nvPr/>
        </p:nvSpPr>
        <p:spPr>
          <a:xfrm>
            <a:off x="548640" y="4251960"/>
            <a:ext cx="8382091" cy="502920"/>
          </a:xfrm>
          <a:prstGeom prst="rect">
            <a:avLst/>
          </a:prstGeom>
          <a:solidFill>
            <a:srgbClr val="FFF4E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8" name="Text 16"/>
          <p:cNvSpPr/>
          <p:nvPr/>
        </p:nvSpPr>
        <p:spPr>
          <a:xfrm>
            <a:off x="777240" y="425196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374151"/>
                </a:solidFill>
                <a:latin typeface="Calibri" pitchFamily="34" charset="0"/>
              </a:rPr>
              <a:t>This is not a curriculum gap — it's a media and licensing gap. </a:t>
            </a:r>
            <a:r>
              <a:rPr lang="en-US" sz="1200" b="1">
                <a:solidFill>
                  <a:srgbClr val="E07730"/>
                </a:solidFill>
                <a:latin typeface="Calibri" pitchFamily="34" charset="0"/>
              </a:rPr>
              <a:t>The structure is built. Now the content layer needs to be funded and delivered.</a:t>
            </a:r>
          </a:p>
        </p:txBody>
      </p:sp>
    </p:spTree>
    <p:extLst>
      <p:ext uri="{BB962C8B-B14F-4D97-AF65-F5344CB8AC3E}">
        <p14:creationId xmlns:p14="http://schemas.microsoft.com/office/powerpoint/2010/main" val="32985730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0773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2C52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Recommended Next Steps</a:t>
            </a:r>
            <a:endParaRPr lang="en-US" sz="2600"/>
          </a:p>
        </p:txBody>
      </p:sp>
      <p:sp>
        <p:nvSpPr>
          <p:cNvPr id="4" name="Shape 2"/>
          <p:cNvSpPr/>
          <p:nvPr/>
        </p:nvSpPr>
        <p:spPr>
          <a:xfrm>
            <a:off x="548640" y="960120"/>
            <a:ext cx="8046720" cy="658368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905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088136"/>
            <a:ext cx="402336" cy="402336"/>
          </a:xfrm>
          <a:prstGeom prst="ellipse">
            <a:avLst/>
          </a:prstGeom>
          <a:solidFill>
            <a:srgbClr val="2C5282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0881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/>
          </a:p>
        </p:txBody>
      </p:sp>
      <p:sp>
        <p:nvSpPr>
          <p:cNvPr id="7" name="Text 5"/>
          <p:cNvSpPr/>
          <p:nvPr/>
        </p:nvSpPr>
        <p:spPr>
          <a:xfrm>
            <a:off x="1417320" y="103327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CBSE content to Delhi Board</a:t>
            </a:r>
            <a:endParaRPr lang="en-US" sz="1300"/>
          </a:p>
        </p:txBody>
      </p:sp>
      <p:sp>
        <p:nvSpPr>
          <p:cNvPr id="8" name="Text 6"/>
          <p:cNvSpPr/>
          <p:nvPr/>
        </p:nvSpPr>
        <p:spPr>
          <a:xfrm>
            <a:off x="1417320" y="1307592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~600 gaps closed instantly with zero new content creation</a:t>
            </a:r>
            <a:endParaRPr lang="en-US" sz="1100"/>
          </a:p>
        </p:txBody>
      </p:sp>
      <p:sp>
        <p:nvSpPr>
          <p:cNvPr id="9" name="Shape 7"/>
          <p:cNvSpPr/>
          <p:nvPr/>
        </p:nvSpPr>
        <p:spPr>
          <a:xfrm>
            <a:off x="548640" y="1737360"/>
            <a:ext cx="8046720" cy="658368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905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77240" y="1865376"/>
            <a:ext cx="402336" cy="402336"/>
          </a:xfrm>
          <a:prstGeom prst="ellipse">
            <a:avLst/>
          </a:prstGeom>
          <a:solidFill>
            <a:srgbClr val="2C5282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186537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/>
          </a:p>
        </p:txBody>
      </p:sp>
      <p:sp>
        <p:nvSpPr>
          <p:cNvPr id="12" name="Text 10"/>
          <p:cNvSpPr/>
          <p:nvPr/>
        </p:nvSpPr>
        <p:spPr>
          <a:xfrm>
            <a:off x="1417320" y="181051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the 745 near-ready areas</a:t>
            </a:r>
            <a:endParaRPr lang="en-US" sz="1300"/>
          </a:p>
        </p:txBody>
      </p:sp>
      <p:sp>
        <p:nvSpPr>
          <p:cNvPr id="13" name="Text 11"/>
          <p:cNvSpPr/>
          <p:nvPr/>
        </p:nvSpPr>
        <p:spPr>
          <a:xfrm>
            <a:off x="1417320" y="2084832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on Hindi (253) and Assamese (191) first — only videos and lessons to add</a:t>
            </a:r>
            <a:endParaRPr lang="en-US" sz="1100"/>
          </a:p>
        </p:txBody>
      </p:sp>
      <p:sp>
        <p:nvSpPr>
          <p:cNvPr id="14" name="Shape 12"/>
          <p:cNvSpPr/>
          <p:nvPr/>
        </p:nvSpPr>
        <p:spPr>
          <a:xfrm>
            <a:off x="548640" y="2514600"/>
            <a:ext cx="8046720" cy="658368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905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77240" y="2642616"/>
            <a:ext cx="402336" cy="402336"/>
          </a:xfrm>
          <a:prstGeom prst="ellipse">
            <a:avLst/>
          </a:prstGeom>
          <a:solidFill>
            <a:srgbClr val="2C5282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264261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/>
          </a:p>
        </p:txBody>
      </p:sp>
      <p:sp>
        <p:nvSpPr>
          <p:cNvPr id="17" name="Text 15"/>
          <p:cNvSpPr/>
          <p:nvPr/>
        </p:nvSpPr>
        <p:spPr>
          <a:xfrm>
            <a:off x="1417320" y="258775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Hindi-medium STEM for Grades 6-12</a:t>
            </a:r>
            <a:endParaRPr lang="en-US" sz="1300"/>
          </a:p>
        </p:txBody>
      </p:sp>
      <p:sp>
        <p:nvSpPr>
          <p:cNvPr id="18" name="Text 16"/>
          <p:cNvSpPr/>
          <p:nvPr/>
        </p:nvSpPr>
        <p:spPr>
          <a:xfrm>
            <a:off x="1417320" y="2862072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content set serves CBSE + UP + MP + Rajasthan + Bihar + Jharkhand + Haryana</a:t>
            </a:r>
            <a:endParaRPr lang="en-US" sz="1100"/>
          </a:p>
        </p:txBody>
      </p:sp>
      <p:sp>
        <p:nvSpPr>
          <p:cNvPr id="19" name="Shape 17"/>
          <p:cNvSpPr/>
          <p:nvPr/>
        </p:nvSpPr>
        <p:spPr>
          <a:xfrm>
            <a:off x="548640" y="3291840"/>
            <a:ext cx="8046720" cy="658368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905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77240" y="3419856"/>
            <a:ext cx="402336" cy="402336"/>
          </a:xfrm>
          <a:prstGeom prst="ellipse">
            <a:avLst/>
          </a:prstGeom>
          <a:solidFill>
            <a:srgbClr val="2C5282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341985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/>
          </a:p>
        </p:txBody>
      </p:sp>
      <p:sp>
        <p:nvSpPr>
          <p:cNvPr id="22" name="Text 20"/>
          <p:cNvSpPr/>
          <p:nvPr/>
        </p:nvSpPr>
        <p:spPr>
          <a:xfrm>
            <a:off x="1417320" y="336499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to top state boards in regional languages</a:t>
            </a:r>
            <a:endParaRPr lang="en-US" sz="1300"/>
          </a:p>
        </p:txBody>
      </p:sp>
      <p:sp>
        <p:nvSpPr>
          <p:cNvPr id="23" name="Text 21"/>
          <p:cNvSpPr/>
          <p:nvPr/>
        </p:nvSpPr>
        <p:spPr>
          <a:xfrm>
            <a:off x="1417320" y="3639312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Maharashtra (Marathi), West Bengal (Bengali), Gujarat (Gujarati), South India states</a:t>
            </a:r>
            <a:endParaRPr lang="en-US" sz="1100"/>
          </a:p>
        </p:txBody>
      </p:sp>
      <p:sp>
        <p:nvSpPr>
          <p:cNvPr id="24" name="Shape 22"/>
          <p:cNvSpPr/>
          <p:nvPr/>
        </p:nvSpPr>
        <p:spPr>
          <a:xfrm>
            <a:off x="548640" y="4069080"/>
            <a:ext cx="8046720" cy="658368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905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77240" y="4197096"/>
            <a:ext cx="402336" cy="402336"/>
          </a:xfrm>
          <a:prstGeom prst="ellipse">
            <a:avLst/>
          </a:prstGeom>
          <a:solidFill>
            <a:srgbClr val="2C5282"/>
          </a:solidFill>
          <a:ln/>
        </p:spPr>
      </p:sp>
      <p:sp>
        <p:nvSpPr>
          <p:cNvPr id="26" name="Text 24"/>
          <p:cNvSpPr/>
          <p:nvPr/>
        </p:nvSpPr>
        <p:spPr>
          <a:xfrm>
            <a:off x="777240" y="419709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/>
          </a:p>
        </p:txBody>
      </p:sp>
      <p:sp>
        <p:nvSpPr>
          <p:cNvPr id="27" name="Text 25"/>
          <p:cNvSpPr/>
          <p:nvPr/>
        </p:nvSpPr>
        <p:spPr>
          <a:xfrm>
            <a:off x="1417320" y="414223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a strategic call on NIOS &amp; international boards</a:t>
            </a:r>
            <a:endParaRPr lang="en-US" sz="1300"/>
          </a:p>
        </p:txBody>
      </p:sp>
      <p:sp>
        <p:nvSpPr>
          <p:cNvPr id="28" name="Text 26"/>
          <p:cNvSpPr/>
          <p:nvPr/>
        </p:nvSpPr>
        <p:spPr>
          <a:xfrm>
            <a:off x="1417320" y="4416552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NIOS = 3M+ students. IB/Cambridge = premium segment. Both need a separate investment decision.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0773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2C52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Execution Plan</a:t>
            </a:r>
            <a:endParaRPr lang="en-US" sz="2600"/>
          </a:p>
        </p:txBody>
      </p:sp>
      <p:sp>
        <p:nvSpPr>
          <p:cNvPr id="4" name="Shape 2"/>
          <p:cNvSpPr/>
          <p:nvPr/>
        </p:nvSpPr>
        <p:spPr>
          <a:xfrm>
            <a:off x="548640" y="960120"/>
            <a:ext cx="804672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905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960120"/>
            <a:ext cx="64008" cy="1188720"/>
          </a:xfrm>
          <a:prstGeom prst="rect">
            <a:avLst/>
          </a:prstGeom>
          <a:solidFill>
            <a:srgbClr val="E07730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033272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E077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— Quick Wins</a:t>
            </a:r>
            <a:endParaRPr lang="en-US" sz="1300"/>
          </a:p>
        </p:txBody>
      </p:sp>
      <p:sp>
        <p:nvSpPr>
          <p:cNvPr id="7" name="Text 5"/>
          <p:cNvSpPr/>
          <p:nvPr/>
        </p:nvSpPr>
        <p:spPr>
          <a:xfrm>
            <a:off x="822960" y="1344168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>
              <a:spcAft>
                <a:spcPts val="3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050" b="1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Map CBSE content to Delhi Board</a:t>
            </a:r>
            <a:r>
              <a:rPr lang="en-US" sz="1050">
                <a:solidFill>
                  <a:srgbClr val="374151"/>
                </a:solidFill>
                <a:latin typeface="Calibri"/>
                <a:ea typeface="Calibri"/>
                <a:cs typeface="Calibri"/>
              </a:rPr>
              <a:t> — ~600 gaps closed, zero new content</a:t>
            </a:r>
            <a:endParaRPr lang="en-US" sz="1050">
              <a:latin typeface="Calibri"/>
              <a:ea typeface="Calibri"/>
              <a:cs typeface="Calibri"/>
            </a:endParaRPr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050" b="1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Complete 745 near-ready tracks</a:t>
            </a:r>
            <a:r>
              <a:rPr lang="en-US" sz="1050">
                <a:solidFill>
                  <a:srgbClr val="374151"/>
                </a:solidFill>
                <a:latin typeface="Calibri"/>
                <a:ea typeface="Calibri"/>
                <a:cs typeface="Calibri"/>
              </a:rPr>
              <a:t> — prioritize Hindi (253) and Assamese (191)</a:t>
            </a:r>
            <a:endParaRPr lang="en-US" sz="1050">
              <a:latin typeface="Calibri"/>
              <a:ea typeface="Calibri"/>
              <a:cs typeface="Calibri"/>
            </a:endParaRPr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050" b="1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Assam Board to full coverage</a:t>
            </a:r>
            <a:r>
              <a:rPr lang="en-US" sz="105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more content is in progress than not started</a:t>
            </a:r>
            <a:endParaRPr lang="en-US" sz="1050"/>
          </a:p>
        </p:txBody>
      </p:sp>
      <p:sp>
        <p:nvSpPr>
          <p:cNvPr id="8" name="Shape 6"/>
          <p:cNvSpPr/>
          <p:nvPr/>
        </p:nvSpPr>
        <p:spPr>
          <a:xfrm>
            <a:off x="548640" y="2286000"/>
            <a:ext cx="804672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905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48640" y="2286000"/>
            <a:ext cx="64008" cy="1188720"/>
          </a:xfrm>
          <a:prstGeom prst="rect">
            <a:avLst/>
          </a:prstGeom>
          <a:solidFill>
            <a:srgbClr val="2C5282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2359152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2C52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— Hindi &amp; State Board Expansion</a:t>
            </a:r>
            <a:endParaRPr lang="en-US" sz="1300"/>
          </a:p>
        </p:txBody>
      </p:sp>
      <p:sp>
        <p:nvSpPr>
          <p:cNvPr id="11" name="Text 9"/>
          <p:cNvSpPr/>
          <p:nvPr/>
        </p:nvSpPr>
        <p:spPr>
          <a:xfrm>
            <a:off x="822960" y="2670048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>
              <a:spcAft>
                <a:spcPts val="3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050" b="1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Hindi-medium STEM for Gr 6-12</a:t>
            </a:r>
            <a:r>
              <a:rPr lang="en-US" sz="105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one set serves CBSE + UP + MP + Rajasthan + Bihar + Jharkhand + Haryana</a:t>
            </a:r>
            <a:endParaRPr lang="en-US" sz="1050"/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050" b="1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to top state boards in regional languages</a:t>
            </a:r>
            <a:r>
              <a:rPr lang="en-US" sz="105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Maharashtra (Marathi), West Bengal (Bengali), Gujarat (Gujarati)</a:t>
            </a:r>
            <a:endParaRPr lang="en-US" sz="1050"/>
          </a:p>
        </p:txBody>
      </p:sp>
      <p:sp>
        <p:nvSpPr>
          <p:cNvPr id="12" name="Shape 10"/>
          <p:cNvSpPr/>
          <p:nvPr/>
        </p:nvSpPr>
        <p:spPr>
          <a:xfrm>
            <a:off x="548640" y="3611880"/>
            <a:ext cx="804672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905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48640" y="3611880"/>
            <a:ext cx="64008" cy="1188720"/>
          </a:xfrm>
          <a:prstGeom prst="rect">
            <a:avLst/>
          </a:prstGeom>
          <a:solidFill>
            <a:srgbClr val="3B6BA5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3685032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3B6B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— Full Vernacular &amp; New Segments</a:t>
            </a:r>
            <a:endParaRPr lang="en-US" sz="1300"/>
          </a:p>
        </p:txBody>
      </p:sp>
      <p:sp>
        <p:nvSpPr>
          <p:cNvPr id="15" name="Text 13"/>
          <p:cNvSpPr/>
          <p:nvPr/>
        </p:nvSpPr>
        <p:spPr>
          <a:xfrm>
            <a:off x="822960" y="3995928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>
              <a:spcAft>
                <a:spcPts val="3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050" b="1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 India languages</a:t>
            </a:r>
            <a:r>
              <a:rPr lang="en-US" sz="105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Tamil, Telugu, Kannada, Malayalam for TN, AP, Telangana, Karnataka, Kerala</a:t>
            </a:r>
            <a:endParaRPr lang="en-US" sz="1050"/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050" b="1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NIOS &amp; international boards</a:t>
            </a:r>
            <a:r>
              <a:rPr lang="en-US" sz="105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3M+ NIOS students, IB &amp; Cambridge premium segment</a:t>
            </a:r>
            <a:endParaRPr lang="en-US" sz="1050"/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050" b="1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grades (1-5)</a:t>
            </a:r>
            <a:r>
              <a:rPr lang="en-US" sz="105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greenfield build, new curriculum mapping across boards</a:t>
            </a:r>
            <a:endParaRPr lang="en-US" sz="105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0773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2C52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Measuring Progress</a:t>
            </a:r>
            <a:endParaRPr lang="en-US" sz="260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>
                <a:solidFill>
                  <a:srgbClr val="374151"/>
                </a:solidFill>
                <a:latin typeface="Calibri"/>
                <a:ea typeface="Calibri"/>
                <a:cs typeface="Calibri"/>
              </a:rPr>
              <a:t>Content Completeness Rate (CCR) — the share of student needs for which full content is available.</a:t>
            </a:r>
            <a:endParaRPr lang="en-US" sz="1300">
              <a:latin typeface="Calibri"/>
              <a:ea typeface="Calibri"/>
              <a:cs typeface="Calibri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2651760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905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234440"/>
            <a:ext cx="2651760" cy="45720"/>
          </a:xfrm>
          <a:prstGeom prst="rect">
            <a:avLst/>
          </a:prstGeom>
          <a:solidFill>
            <a:srgbClr val="C53030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37160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1100"/>
          </a:p>
        </p:txBody>
      </p:sp>
      <p:sp>
        <p:nvSpPr>
          <p:cNvPr id="8" name="Text 6"/>
          <p:cNvSpPr/>
          <p:nvPr/>
        </p:nvSpPr>
        <p:spPr>
          <a:xfrm>
            <a:off x="731520" y="1627632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>
                <a:solidFill>
                  <a:srgbClr val="C530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4.4%</a:t>
            </a:r>
            <a:endParaRPr lang="en-US" sz="3400"/>
          </a:p>
        </p:txBody>
      </p:sp>
      <p:sp>
        <p:nvSpPr>
          <p:cNvPr id="9" name="Text 7"/>
          <p:cNvSpPr/>
          <p:nvPr/>
        </p:nvSpPr>
        <p:spPr>
          <a:xfrm>
            <a:off x="731520" y="219456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374151"/>
                </a:solidFill>
                <a:latin typeface="Calibri" pitchFamily="34" charset="0"/>
              </a:rPr>
              <a:t>566 of ~12,900 subject-grade tracks have full content across video, lessons, and publisher materials.</a:t>
            </a:r>
          </a:p>
        </p:txBody>
      </p:sp>
      <p:sp>
        <p:nvSpPr>
          <p:cNvPr id="10" name="Shape 8"/>
          <p:cNvSpPr/>
          <p:nvPr/>
        </p:nvSpPr>
        <p:spPr>
          <a:xfrm>
            <a:off x="3429000" y="1234440"/>
            <a:ext cx="2651760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905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429000" y="1234440"/>
            <a:ext cx="2651760" cy="45720"/>
          </a:xfrm>
          <a:prstGeom prst="rect">
            <a:avLst/>
          </a:prstGeom>
          <a:solidFill>
            <a:srgbClr val="E07730"/>
          </a:solidFill>
          <a:ln/>
        </p:spPr>
      </p:sp>
      <p:sp>
        <p:nvSpPr>
          <p:cNvPr id="12" name="Text 10"/>
          <p:cNvSpPr/>
          <p:nvPr/>
        </p:nvSpPr>
        <p:spPr>
          <a:xfrm>
            <a:off x="3611880" y="137160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Phase 1</a:t>
            </a:r>
            <a:endParaRPr lang="en-US" sz="1100"/>
          </a:p>
        </p:txBody>
      </p:sp>
      <p:sp>
        <p:nvSpPr>
          <p:cNvPr id="13" name="Text 11"/>
          <p:cNvSpPr/>
          <p:nvPr/>
        </p:nvSpPr>
        <p:spPr>
          <a:xfrm>
            <a:off x="3611880" y="1627632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>
                <a:solidFill>
                  <a:srgbClr val="E077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~15%</a:t>
            </a:r>
            <a:endParaRPr lang="en-US" sz="3400"/>
          </a:p>
        </p:txBody>
      </p:sp>
      <p:sp>
        <p:nvSpPr>
          <p:cNvPr id="14" name="Text 12"/>
          <p:cNvSpPr/>
          <p:nvPr/>
        </p:nvSpPr>
        <p:spPr>
          <a:xfrm>
            <a:off x="3611880" y="219456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374151"/>
                </a:solidFill>
                <a:latin typeface="Calibri"/>
                <a:ea typeface="Calibri"/>
                <a:cs typeface="Calibri"/>
              </a:rPr>
              <a:t>745 near-ready tracks completed + Delhi board mapped. Quick wins prioritized by student reach.</a:t>
            </a:r>
          </a:p>
        </p:txBody>
      </p:sp>
      <p:sp>
        <p:nvSpPr>
          <p:cNvPr id="15" name="Shape 13"/>
          <p:cNvSpPr/>
          <p:nvPr/>
        </p:nvSpPr>
        <p:spPr>
          <a:xfrm>
            <a:off x="6309360" y="1234440"/>
            <a:ext cx="2651760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905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309360" y="1234440"/>
            <a:ext cx="2651760" cy="45720"/>
          </a:xfrm>
          <a:prstGeom prst="rect">
            <a:avLst/>
          </a:prstGeom>
          <a:solidFill>
            <a:srgbClr val="38864F"/>
          </a:solidFill>
          <a:ln/>
        </p:spPr>
      </p:sp>
      <p:sp>
        <p:nvSpPr>
          <p:cNvPr id="17" name="Text 15"/>
          <p:cNvSpPr/>
          <p:nvPr/>
        </p:nvSpPr>
        <p:spPr>
          <a:xfrm>
            <a:off x="6492240" y="137160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Phase 2</a:t>
            </a:r>
            <a:endParaRPr lang="en-US" sz="1100"/>
          </a:p>
        </p:txBody>
      </p:sp>
      <p:sp>
        <p:nvSpPr>
          <p:cNvPr id="18" name="Text 16"/>
          <p:cNvSpPr/>
          <p:nvPr/>
        </p:nvSpPr>
        <p:spPr>
          <a:xfrm>
            <a:off x="6492240" y="1627632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>
                <a:solidFill>
                  <a:srgbClr val="3886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~35%</a:t>
            </a:r>
            <a:endParaRPr lang="en-US" sz="3400"/>
          </a:p>
        </p:txBody>
      </p:sp>
      <p:sp>
        <p:nvSpPr>
          <p:cNvPr id="19" name="Text 17"/>
          <p:cNvSpPr/>
          <p:nvPr/>
        </p:nvSpPr>
        <p:spPr>
          <a:xfrm>
            <a:off x="6492240" y="219456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374151"/>
                </a:solidFill>
                <a:latin typeface="Calibri" pitchFamily="34" charset="0"/>
              </a:rPr>
              <a:t>Hindi STEM content live + top state board expansion across 5 languages.</a:t>
            </a:r>
          </a:p>
        </p:txBody>
      </p:sp>
      <p:sp>
        <p:nvSpPr>
          <p:cNvPr id="20" name="Shape 18"/>
          <p:cNvSpPr/>
          <p:nvPr/>
        </p:nvSpPr>
        <p:spPr>
          <a:xfrm>
            <a:off x="562328" y="3246120"/>
            <a:ext cx="8395780" cy="15087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905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48640" y="3246120"/>
            <a:ext cx="64008" cy="1508760"/>
          </a:xfrm>
          <a:prstGeom prst="rect">
            <a:avLst/>
          </a:prstGeom>
          <a:solidFill>
            <a:srgbClr val="E07730"/>
          </a:solidFill>
          <a:ln/>
        </p:spPr>
      </p:sp>
      <p:sp>
        <p:nvSpPr>
          <p:cNvPr id="22" name="Text 20"/>
          <p:cNvSpPr/>
          <p:nvPr/>
        </p:nvSpPr>
        <p:spPr>
          <a:xfrm>
            <a:off x="822960" y="333756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E07730"/>
                </a:solidFill>
                <a:latin typeface="Calibri" pitchFamily="34" charset="0"/>
              </a:rPr>
              <a:t>Decisions Needed</a:t>
            </a:r>
          </a:p>
        </p:txBody>
      </p:sp>
      <p:sp>
        <p:nvSpPr>
          <p:cNvPr id="23" name="Text 21"/>
          <p:cNvSpPr/>
          <p:nvPr/>
        </p:nvSpPr>
        <p:spPr>
          <a:xfrm>
            <a:off x="822960" y="3657600"/>
            <a:ext cx="7498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>
              <a:spcAft>
                <a:spcPts val="400"/>
              </a:spcAft>
              <a:buFont typeface="Arial" pitchFamily="34" charset="0"/>
              <a:buChar char="•"/>
            </a:pPr>
            <a:r>
              <a:rPr lang="en-US" sz="1050" b="1">
                <a:solidFill>
                  <a:srgbClr val="1F2937"/>
                </a:solidFill>
                <a:latin typeface="Calibri" pitchFamily="34" charset="0"/>
              </a:rPr>
              <a:t>Phase 1 resourcing:</a:t>
            </a:r>
            <a:r>
              <a:rPr lang="en-US" sz="1050">
                <a:solidFill>
                  <a:srgbClr val="374151"/>
                </a:solidFill>
                <a:latin typeface="Calibri" pitchFamily="34" charset="0"/>
              </a:rPr>
              <a:t> approve content production team and publisher licensing budget to complete the 745 near-ready subject-grade tracks.</a:t>
            </a:r>
          </a:p>
          <a:p>
            <a:pPr marL="171450" indent="-171450">
              <a:spcAft>
                <a:spcPts val="400"/>
              </a:spcAft>
              <a:buFont typeface="Arial" pitchFamily="34" charset="0"/>
              <a:buChar char="•"/>
            </a:pPr>
            <a:r>
              <a:rPr lang="en-US" sz="1050" b="1">
                <a:solidFill>
                  <a:srgbClr val="1F2937"/>
                </a:solidFill>
                <a:latin typeface="Calibri" pitchFamily="34" charset="0"/>
              </a:rPr>
              <a:t>Hindi content path:</a:t>
            </a:r>
            <a:r>
              <a:rPr lang="en-US" sz="1050">
                <a:solidFill>
                  <a:srgbClr val="374151"/>
                </a:solidFill>
                <a:latin typeface="Calibri" pitchFamily="34" charset="0"/>
              </a:rPr>
              <a:t> choose between in-house production, publisher licensing, or Gen-AI for 2,184 open Hindi modules — which gets funded first?</a:t>
            </a:r>
          </a:p>
          <a:p>
            <a:pPr marL="171450" indent="-171450">
              <a:spcAft>
                <a:spcPts val="400"/>
              </a:spcAft>
              <a:buFont typeface="Arial" pitchFamily="34" charset="0"/>
              <a:buChar char="•"/>
            </a:pPr>
            <a:r>
              <a:rPr lang="en-US" sz="1050" b="1">
                <a:solidFill>
                  <a:srgbClr val="1F2937"/>
                </a:solidFill>
                <a:latin typeface="Calibri" pitchFamily="34" charset="0"/>
              </a:rPr>
              <a:t>NIOS timing:</a:t>
            </a:r>
            <a:r>
              <a:rPr lang="en-US" sz="1050">
                <a:solidFill>
                  <a:srgbClr val="374151"/>
                </a:solidFill>
                <a:latin typeface="Calibri" pitchFamily="34" charset="0"/>
              </a:rPr>
              <a:t> 3M+ underserved students, strong social impact case — Phase 2 or defer to Phase 3?</a:t>
            </a:r>
          </a:p>
          <a:p>
            <a:pPr marL="171450" indent="-171450">
              <a:spcAft>
                <a:spcPts val="400"/>
              </a:spcAft>
              <a:buFont typeface="Arial" pitchFamily="34" charset="0"/>
              <a:buChar char="•"/>
            </a:pPr>
            <a:r>
              <a:rPr lang="en-US" sz="1050" b="1">
                <a:solidFill>
                  <a:srgbClr val="1F2937"/>
                </a:solidFill>
                <a:latin typeface="Calibri" pitchFamily="34" charset="0"/>
              </a:rPr>
              <a:t>Gen-AI as accelerator:</a:t>
            </a:r>
            <a:r>
              <a:rPr lang="en-US" sz="1050">
                <a:solidFill>
                  <a:srgbClr val="374151"/>
                </a:solidFill>
                <a:latin typeface="Calibri" pitchFamily="34" charset="0"/>
              </a:rPr>
              <a:t> pilot Gen-AI lessons for lower-priority language-board tracks to expand coverage faster — approve pilot scope?</a:t>
            </a:r>
          </a:p>
        </p:txBody>
      </p:sp>
    </p:spTree>
    <p:extLst>
      <p:ext uri="{BB962C8B-B14F-4D97-AF65-F5344CB8AC3E}">
        <p14:creationId xmlns:p14="http://schemas.microsoft.com/office/powerpoint/2010/main" val="25080773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07730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1920240"/>
            <a:ext cx="73152" cy="1371600"/>
          </a:xfrm>
          <a:prstGeom prst="rect">
            <a:avLst/>
          </a:prstGeom>
          <a:solidFill>
            <a:srgbClr val="2C5282"/>
          </a:solidFill>
          <a:ln/>
        </p:spPr>
      </p:sp>
      <p:sp>
        <p:nvSpPr>
          <p:cNvPr id="4" name="Text 2"/>
          <p:cNvSpPr/>
          <p:nvPr/>
        </p:nvSpPr>
        <p:spPr>
          <a:xfrm>
            <a:off x="721360" y="230124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42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44D391EE-79F3-0C4B-BE64-A25EA1508295}">
  <we:reference id="f5f369e5-aa35-49d7-ad7b-638152ddb008" version="1.0.0.1" store="EXCatalog" storeType="EXCatalog"/>
  <we:alternateReferences>
    <we:reference id="WA200010001" version="1.0.0.1" store="en-IN" storeType="OMEX"/>
  </we:alternateReferences>
  <we:properties>
    <we:property name="claude.fileId" value="&quot;384ca1fb-9ae4-476b-9b5a-69172418860b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On-screen Show (16:9)</PresentationFormat>
  <Slides>12</Slides>
  <Notes>12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Embibe Content Gap Analysis</dc:title>
  <dc:subject>PptxGenJS Presentation</dc:subject>
  <dc:creator>Embibe Content Strategy</dc:creator>
  <cp:revision>15</cp:revision>
  <dcterms:created xsi:type="dcterms:W3CDTF">2026-04-12T10:18:14Z</dcterms:created>
  <dcterms:modified xsi:type="dcterms:W3CDTF">2026-04-13T10:23:03Z</dcterms:modified>
</cp:coreProperties>
</file>